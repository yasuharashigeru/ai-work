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46120"/>
            <a:ext cx="12188952" cy="54864"/>
          </a:xfrm>
          <a:prstGeom prst="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47120" cy="1463040"/>
          </a:xfrm>
          <a:prstGeom prst="rect">
            <a:avLst/>
          </a:prstGeom>
          <a:noFill/>
        </p:spPr>
        <p:txBody>
          <a:bodyPr wrap="square">
            <a:spAutoFit/>
          </a:bodyPr>
          <a:lstStyle/>
          <a:p>
            <a:pPr algn="ctr"/>
            <a:r>
              <a:rPr sz="4800" b="1">
                <a:solidFill>
                  <a:srgbClr val="FFFFFF"/>
                </a:solidFill>
              </a:rPr>
              <a:t>社会学・人類学の核心</a:t>
            </a:r>
          </a:p>
        </p:txBody>
      </p:sp>
      <p:sp>
        <p:nvSpPr>
          <p:cNvPr id="5" name="TextBox 4"/>
          <p:cNvSpPr txBox="1"/>
          <p:nvPr/>
        </p:nvSpPr>
        <p:spPr>
          <a:xfrm>
            <a:off x="457200" y="2743200"/>
            <a:ext cx="11247120" cy="822960"/>
          </a:xfrm>
          <a:prstGeom prst="rect">
            <a:avLst/>
          </a:prstGeom>
          <a:noFill/>
        </p:spPr>
        <p:txBody>
          <a:bodyPr wrap="square">
            <a:spAutoFit/>
          </a:bodyPr>
          <a:lstStyle/>
          <a:p>
            <a:pPr algn="ctr"/>
            <a:r>
              <a:rPr sz="2600" b="0">
                <a:solidFill>
                  <a:srgbClr val="BBDEFF"/>
                </a:solidFill>
              </a:rPr>
              <a:t>宮台真司の思想から学ぶ</a:t>
            </a:r>
          </a:p>
        </p:txBody>
      </p:sp>
      <p:sp>
        <p:nvSpPr>
          <p:cNvPr id="6" name="Rectangle 5"/>
          <p:cNvSpPr/>
          <p:nvPr/>
        </p:nvSpPr>
        <p:spPr>
          <a:xfrm>
            <a:off x="365760" y="4114800"/>
            <a:ext cx="2103120" cy="640080"/>
          </a:xfrm>
          <a:prstGeom prst="rect">
            <a:avLst/>
          </a:prstGeom>
          <a:solidFill>
            <a:srgbClr val="0D47A1"/>
          </a:solidFill>
          <a:ln w="19050">
            <a:solidFill>
              <a:srgbClr val="F57C0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400" b="0">
                <a:solidFill>
                  <a:srgbClr val="FFFFFF"/>
                </a:solidFill>
              </a:rPr>
              <a:t>近代とは何か</a:t>
            </a:r>
          </a:p>
        </p:txBody>
      </p:sp>
      <p:sp>
        <p:nvSpPr>
          <p:cNvPr id="7" name="Rectangle 6"/>
          <p:cNvSpPr/>
          <p:nvPr/>
        </p:nvSpPr>
        <p:spPr>
          <a:xfrm>
            <a:off x="2651760" y="4114800"/>
            <a:ext cx="2103120" cy="640080"/>
          </a:xfrm>
          <a:prstGeom prst="rect">
            <a:avLst/>
          </a:prstGeom>
          <a:solidFill>
            <a:srgbClr val="0D47A1"/>
          </a:solidFill>
          <a:ln w="19050">
            <a:solidFill>
              <a:srgbClr val="F57C0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400" b="0">
                <a:solidFill>
                  <a:srgbClr val="FFFFFF"/>
                </a:solidFill>
              </a:rPr>
              <a:t>共同体の喪失</a:t>
            </a:r>
          </a:p>
        </p:txBody>
      </p:sp>
      <p:sp>
        <p:nvSpPr>
          <p:cNvPr id="8" name="Rectangle 7"/>
          <p:cNvSpPr/>
          <p:nvPr/>
        </p:nvSpPr>
        <p:spPr>
          <a:xfrm>
            <a:off x="4937760" y="4114800"/>
            <a:ext cx="2103120" cy="640080"/>
          </a:xfrm>
          <a:prstGeom prst="rect">
            <a:avLst/>
          </a:prstGeom>
          <a:solidFill>
            <a:srgbClr val="0D47A1"/>
          </a:solidFill>
          <a:ln w="19050">
            <a:solidFill>
              <a:srgbClr val="F57C0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400" b="0">
                <a:solidFill>
                  <a:srgbClr val="FFFFFF"/>
                </a:solidFill>
              </a:rPr>
              <a:t>認識論 vs 存在論</a:t>
            </a:r>
          </a:p>
        </p:txBody>
      </p:sp>
      <p:sp>
        <p:nvSpPr>
          <p:cNvPr id="9" name="Rectangle 8"/>
          <p:cNvSpPr/>
          <p:nvPr/>
        </p:nvSpPr>
        <p:spPr>
          <a:xfrm>
            <a:off x="7223760" y="4114800"/>
            <a:ext cx="2103120" cy="640080"/>
          </a:xfrm>
          <a:prstGeom prst="rect">
            <a:avLst/>
          </a:prstGeom>
          <a:solidFill>
            <a:srgbClr val="0D47A1"/>
          </a:solidFill>
          <a:ln w="19050">
            <a:solidFill>
              <a:srgbClr val="F57C0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400" b="0">
                <a:solidFill>
                  <a:srgbClr val="FFFFFF"/>
                </a:solidFill>
              </a:rPr>
              <a:t>民主政の危機</a:t>
            </a:r>
          </a:p>
        </p:txBody>
      </p:sp>
      <p:sp>
        <p:nvSpPr>
          <p:cNvPr id="10" name="Rectangle 9"/>
          <p:cNvSpPr/>
          <p:nvPr/>
        </p:nvSpPr>
        <p:spPr>
          <a:xfrm>
            <a:off x="9509760" y="4114800"/>
            <a:ext cx="2103120" cy="640080"/>
          </a:xfrm>
          <a:prstGeom prst="rect">
            <a:avLst/>
          </a:prstGeom>
          <a:solidFill>
            <a:srgbClr val="0D47A1"/>
          </a:solidFill>
          <a:ln w="19050">
            <a:solidFill>
              <a:srgbClr val="F57C0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400" b="0">
                <a:solidFill>
                  <a:srgbClr val="FFFFFF"/>
                </a:solidFill>
              </a:rPr>
              <a:t>原的贈与</a:t>
            </a:r>
          </a:p>
        </p:txBody>
      </p:sp>
      <p:sp>
        <p:nvSpPr>
          <p:cNvPr id="11" name="TextBox 10"/>
          <p:cNvSpPr txBox="1"/>
          <p:nvPr/>
        </p:nvSpPr>
        <p:spPr>
          <a:xfrm>
            <a:off x="457200" y="5120640"/>
            <a:ext cx="11247120" cy="457200"/>
          </a:xfrm>
          <a:prstGeom prst="rect">
            <a:avLst/>
          </a:prstGeom>
          <a:noFill/>
        </p:spPr>
        <p:txBody>
          <a:bodyPr wrap="square">
            <a:spAutoFit/>
          </a:bodyPr>
          <a:lstStyle/>
          <a:p>
            <a:pPr algn="ctr"/>
            <a:r>
              <a:rPr sz="1400" b="0">
                <a:solidFill>
                  <a:srgbClr val="90A4AE"/>
                </a:solidFill>
              </a:rPr>
              <a:t>デュルケム × ヴェーバー × ジンメル × 宮台真司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731520"/>
          </a:xfrm>
          <a:prstGeom prst="rect">
            <a:avLst/>
          </a:prstGeom>
          <a:noFill/>
        </p:spPr>
        <p:txBody>
          <a:bodyPr wrap="square">
            <a:spAutoFit/>
          </a:bodyPr>
          <a:lstStyle/>
          <a:p>
            <a:pPr algn="l"/>
            <a:r>
              <a:rPr sz="3000" b="1">
                <a:solidFill>
                  <a:srgbClr val="FFFFFF"/>
                </a:solidFill>
              </a:rPr>
              <a:t>全体像：5つのテーマ</a:t>
            </a:r>
          </a:p>
        </p:txBody>
      </p:sp>
      <p:sp>
        <p:nvSpPr>
          <p:cNvPr id="4" name="Rectangle 3"/>
          <p:cNvSpPr/>
          <p:nvPr/>
        </p:nvSpPr>
        <p:spPr>
          <a:xfrm>
            <a:off x="0" y="1188720"/>
            <a:ext cx="12188952" cy="566928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834640"/>
            <a:ext cx="2286000" cy="1280160"/>
          </a:xfrm>
          <a:prstGeom prst="rect">
            <a:avLst/>
          </a:prstGeom>
          <a:solidFill>
            <a:srgbClr val="1A237E"/>
          </a:solidFill>
          <a:ln w="25400">
            <a:solidFill>
              <a:srgbClr val="F57C0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400" b="1">
                <a:solidFill>
                  <a:srgbClr val="FFFFFF"/>
                </a:solidFill>
              </a:rPr>
              <a:t>宮台真司
社会学・人類学</a:t>
            </a:r>
          </a:p>
        </p:txBody>
      </p:sp>
      <p:sp>
        <p:nvSpPr>
          <p:cNvPr id="6" name="Rectangle 5"/>
          <p:cNvSpPr/>
          <p:nvPr/>
        </p:nvSpPr>
        <p:spPr>
          <a:xfrm>
            <a:off x="182880" y="1463040"/>
            <a:ext cx="2651760" cy="1920240"/>
          </a:xfrm>
          <a:prstGeom prst="rect">
            <a:avLst/>
          </a:prstGeom>
          <a:solidFill>
            <a:srgbClr val="E3F2FD"/>
          </a:solidFill>
          <a:ln w="2540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300" b="0">
                <a:solidFill>
                  <a:srgbClr val="212121"/>
                </a:solidFill>
              </a:rPr>
              <a:t>① 社会学の父たち
デュルケム・ヴェーバー
ジンメルの主要概念</a:t>
            </a:r>
          </a:p>
        </p:txBody>
      </p:sp>
      <p:sp>
        <p:nvSpPr>
          <p:cNvPr id="7" name="Rectangle 6"/>
          <p:cNvSpPr/>
          <p:nvPr/>
        </p:nvSpPr>
        <p:spPr>
          <a:xfrm>
            <a:off x="3017520" y="1463040"/>
            <a:ext cx="2651760" cy="1920240"/>
          </a:xfrm>
          <a:prstGeom prst="rect">
            <a:avLst/>
          </a:prstGeom>
          <a:solidFill>
            <a:srgbClr val="E0F2F1"/>
          </a:solidFill>
          <a:ln w="25400">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300" b="0">
                <a:solidFill>
                  <a:srgbClr val="212121"/>
                </a:solidFill>
              </a:rPr>
              <a:t>② 認識論 vs 存在論
How vs Why
前提を遡る思考</a:t>
            </a:r>
          </a:p>
        </p:txBody>
      </p:sp>
      <p:sp>
        <p:nvSpPr>
          <p:cNvPr id="8" name="Rectangle 7"/>
          <p:cNvSpPr/>
          <p:nvPr/>
        </p:nvSpPr>
        <p:spPr>
          <a:xfrm>
            <a:off x="6766560" y="1463040"/>
            <a:ext cx="2651760" cy="1920240"/>
          </a:xfrm>
          <a:prstGeom prst="rect">
            <a:avLst/>
          </a:prstGeom>
          <a:solidFill>
            <a:srgbClr val="FFF3E0"/>
          </a:solidFill>
          <a:ln w="25400">
            <a:solidFill>
              <a:srgbClr val="F57C0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300" b="0">
                <a:solidFill>
                  <a:srgbClr val="212121"/>
                </a:solidFill>
              </a:rPr>
              <a:t>③ 共同体の崩壊
新住民化・法化
感情の劣化</a:t>
            </a:r>
          </a:p>
        </p:txBody>
      </p:sp>
      <p:sp>
        <p:nvSpPr>
          <p:cNvPr id="9" name="Rectangle 8"/>
          <p:cNvSpPr/>
          <p:nvPr/>
        </p:nvSpPr>
        <p:spPr>
          <a:xfrm>
            <a:off x="9326880" y="1463040"/>
            <a:ext cx="2651760" cy="1920240"/>
          </a:xfrm>
          <a:prstGeom prst="rect">
            <a:avLst/>
          </a:prstGeom>
          <a:solidFill>
            <a:srgbClr val="FFEBEE"/>
          </a:solidFill>
          <a:ln w="254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300" b="0">
                <a:solidFill>
                  <a:srgbClr val="212121"/>
                </a:solidFill>
              </a:rPr>
              <a:t>④ 民主政の危機
アメリカ社会学の失敗
トランプ現象</a:t>
            </a:r>
          </a:p>
        </p:txBody>
      </p:sp>
      <p:sp>
        <p:nvSpPr>
          <p:cNvPr id="10" name="Rectangle 9"/>
          <p:cNvSpPr/>
          <p:nvPr/>
        </p:nvSpPr>
        <p:spPr>
          <a:xfrm>
            <a:off x="4937760" y="4754880"/>
            <a:ext cx="2286000" cy="1737360"/>
          </a:xfrm>
          <a:prstGeom prst="rect">
            <a:avLst/>
          </a:prstGeom>
          <a:solidFill>
            <a:srgbClr val="E8F5E9"/>
          </a:solidFill>
          <a:ln w="254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300" b="0">
                <a:solidFill>
                  <a:srgbClr val="212121"/>
                </a:solidFill>
              </a:rPr>
              <a:t>⑤ 原的贈与と
権力予期理論
宮台の実践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731520"/>
          </a:xfrm>
          <a:prstGeom prst="rect">
            <a:avLst/>
          </a:prstGeom>
          <a:noFill/>
        </p:spPr>
        <p:txBody>
          <a:bodyPr wrap="square">
            <a:spAutoFit/>
          </a:bodyPr>
          <a:lstStyle/>
          <a:p>
            <a:pPr algn="l"/>
            <a:r>
              <a:rPr sz="3000" b="1">
                <a:solidFill>
                  <a:srgbClr val="FFFFFF"/>
                </a:solidFill>
              </a:rPr>
              <a:t>社会学の出発点：「ありそうもなさ」の謎</a:t>
            </a:r>
          </a:p>
        </p:txBody>
      </p:sp>
      <p:sp>
        <p:nvSpPr>
          <p:cNvPr id="4" name="TextBox 3"/>
          <p:cNvSpPr txBox="1"/>
          <p:nvPr/>
        </p:nvSpPr>
        <p:spPr>
          <a:xfrm>
            <a:off x="274320" y="749808"/>
            <a:ext cx="11430000" cy="347472"/>
          </a:xfrm>
          <a:prstGeom prst="rect">
            <a:avLst/>
          </a:prstGeom>
          <a:noFill/>
        </p:spPr>
        <p:txBody>
          <a:bodyPr wrap="square">
            <a:spAutoFit/>
          </a:bodyPr>
          <a:lstStyle/>
          <a:p>
            <a:pPr algn="l"/>
            <a:r>
              <a:rPr sz="1400" b="0">
                <a:solidFill>
                  <a:srgbClr val="BBDEFF"/>
                </a:solidFill>
              </a:rPr>
              <a:t>なぜ社会は秩序を保てるのか？</a:t>
            </a:r>
          </a:p>
        </p:txBody>
      </p:sp>
      <p:sp>
        <p:nvSpPr>
          <p:cNvPr id="5" name="Rectangle 4"/>
          <p:cNvSpPr/>
          <p:nvPr/>
        </p:nvSpPr>
        <p:spPr>
          <a:xfrm>
            <a:off x="0" y="1188720"/>
            <a:ext cx="12188952" cy="566928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0" y="1371600"/>
            <a:ext cx="8503920" cy="777240"/>
          </a:xfrm>
          <a:prstGeom prst="rect">
            <a:avLst/>
          </a:prstGeom>
          <a:solidFill>
            <a:srgbClr val="1A237E"/>
          </a:solidFill>
          <a:ln w="19050">
            <a:solidFill>
              <a:srgbClr val="1A237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2200" b="1">
                <a:solidFill>
                  <a:srgbClr val="FFFFFF"/>
                </a:solidFill>
              </a:rPr>
              <a:t>なぜ社会は秩序を保っているのか？</a:t>
            </a:r>
          </a:p>
        </p:txBody>
      </p:sp>
      <p:sp>
        <p:nvSpPr>
          <p:cNvPr id="7" name="TextBox 6"/>
          <p:cNvSpPr txBox="1"/>
          <p:nvPr/>
        </p:nvSpPr>
        <p:spPr>
          <a:xfrm>
            <a:off x="5760720" y="2148840"/>
            <a:ext cx="731520" cy="457200"/>
          </a:xfrm>
          <a:prstGeom prst="rect">
            <a:avLst/>
          </a:prstGeom>
          <a:noFill/>
        </p:spPr>
        <p:txBody>
          <a:bodyPr wrap="square">
            <a:spAutoFit/>
          </a:bodyPr>
          <a:lstStyle/>
          <a:p>
            <a:pPr algn="ctr"/>
            <a:r>
              <a:rPr sz="2400" b="0">
                <a:solidFill>
                  <a:srgbClr val="1A237E"/>
                </a:solidFill>
              </a:rPr>
              <a:t>↓</a:t>
            </a:r>
          </a:p>
        </p:txBody>
      </p:sp>
      <p:sp>
        <p:nvSpPr>
          <p:cNvPr id="8" name="Rectangle 7"/>
          <p:cNvSpPr/>
          <p:nvPr/>
        </p:nvSpPr>
        <p:spPr>
          <a:xfrm>
            <a:off x="2743200" y="2606040"/>
            <a:ext cx="6675120" cy="914400"/>
          </a:xfrm>
          <a:prstGeom prst="rect">
            <a:avLst/>
          </a:prstGeom>
          <a:solidFill>
            <a:srgbClr val="FFF3E0"/>
          </a:solidFill>
          <a:ln w="25400">
            <a:solidFill>
              <a:srgbClr val="F57C0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600" b="1">
                <a:solidFill>
                  <a:srgbClr val="212121"/>
                </a:solidFill>
              </a:rPr>
              <a:t>低エントロピー状態（ありそうもない状態）
放っておいたらバラバラになるのに、なぜか秩序がある</a:t>
            </a:r>
          </a:p>
        </p:txBody>
      </p:sp>
      <p:sp>
        <p:nvSpPr>
          <p:cNvPr id="9" name="TextBox 8"/>
          <p:cNvSpPr txBox="1"/>
          <p:nvPr/>
        </p:nvSpPr>
        <p:spPr>
          <a:xfrm>
            <a:off x="274320" y="3566160"/>
            <a:ext cx="2743200" cy="365760"/>
          </a:xfrm>
          <a:prstGeom prst="rect">
            <a:avLst/>
          </a:prstGeom>
          <a:noFill/>
        </p:spPr>
        <p:txBody>
          <a:bodyPr wrap="square">
            <a:spAutoFit/>
          </a:bodyPr>
          <a:lstStyle/>
          <a:p>
            <a:pPr algn="l"/>
            <a:r>
              <a:rPr sz="1400" b="1">
                <a:solidFill>
                  <a:srgbClr val="1A237E"/>
                </a:solidFill>
              </a:rPr>
              <a:t>↓ 例えば…</a:t>
            </a:r>
          </a:p>
        </p:txBody>
      </p:sp>
      <p:sp>
        <p:nvSpPr>
          <p:cNvPr id="10" name="Rectangle 9"/>
          <p:cNvSpPr/>
          <p:nvPr/>
        </p:nvSpPr>
        <p:spPr>
          <a:xfrm>
            <a:off x="274320" y="3977639"/>
            <a:ext cx="2743200" cy="1188720"/>
          </a:xfrm>
          <a:prstGeom prst="rect">
            <a:avLst/>
          </a:prstGeom>
          <a:solidFill>
            <a:srgbClr val="E3F2FD"/>
          </a:solidFill>
          <a:ln w="1905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400" b="0">
                <a:solidFill>
                  <a:srgbClr val="212121"/>
                </a:solidFill>
              </a:rPr>
              <a:t>知らない人同士が
電車で整列する</a:t>
            </a:r>
          </a:p>
        </p:txBody>
      </p:sp>
      <p:sp>
        <p:nvSpPr>
          <p:cNvPr id="11" name="Rectangle 10"/>
          <p:cNvSpPr/>
          <p:nvPr/>
        </p:nvSpPr>
        <p:spPr>
          <a:xfrm>
            <a:off x="3200400" y="3977639"/>
            <a:ext cx="2743200" cy="1188720"/>
          </a:xfrm>
          <a:prstGeom prst="rect">
            <a:avLst/>
          </a:prstGeom>
          <a:solidFill>
            <a:srgbClr val="E0F2F1"/>
          </a:solidFill>
          <a:ln w="19050">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400" b="0">
                <a:solidFill>
                  <a:srgbClr val="212121"/>
                </a:solidFill>
              </a:rPr>
              <a:t>紙切れ（お金）を
みんなが信用する</a:t>
            </a:r>
          </a:p>
        </p:txBody>
      </p:sp>
      <p:sp>
        <p:nvSpPr>
          <p:cNvPr id="12" name="Rectangle 11"/>
          <p:cNvSpPr/>
          <p:nvPr/>
        </p:nvSpPr>
        <p:spPr>
          <a:xfrm>
            <a:off x="6126480" y="3977639"/>
            <a:ext cx="2743200" cy="1188720"/>
          </a:xfrm>
          <a:prstGeom prst="rect">
            <a:avLst/>
          </a:prstGeom>
          <a:solidFill>
            <a:srgbClr val="F3E5F5"/>
          </a:solidFill>
          <a:ln w="19050">
            <a:solidFill>
              <a:srgbClr val="4A14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400" b="0">
                <a:solidFill>
                  <a:srgbClr val="212121"/>
                </a:solidFill>
              </a:rPr>
              <a:t>店員と客として
初対面でも振る舞える</a:t>
            </a:r>
          </a:p>
        </p:txBody>
      </p:sp>
      <p:sp>
        <p:nvSpPr>
          <p:cNvPr id="13" name="Rectangle 12"/>
          <p:cNvSpPr/>
          <p:nvPr/>
        </p:nvSpPr>
        <p:spPr>
          <a:xfrm>
            <a:off x="9052560" y="3977639"/>
            <a:ext cx="2743200" cy="1188720"/>
          </a:xfrm>
          <a:prstGeom prst="rect">
            <a:avLst/>
          </a:prstGeom>
          <a:solidFill>
            <a:srgbClr val="E8F5E9"/>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400" b="0">
                <a:solidFill>
                  <a:srgbClr val="212121"/>
                </a:solidFill>
              </a:rPr>
              <a:t>信号を見ると
自然に止まる</a:t>
            </a:r>
          </a:p>
        </p:txBody>
      </p:sp>
      <p:sp>
        <p:nvSpPr>
          <p:cNvPr id="14" name="Rectangle 13"/>
          <p:cNvSpPr/>
          <p:nvPr/>
        </p:nvSpPr>
        <p:spPr>
          <a:xfrm>
            <a:off x="274320" y="5349240"/>
            <a:ext cx="11612880" cy="914400"/>
          </a:xfrm>
          <a:prstGeom prst="rect">
            <a:avLst/>
          </a:prstGeom>
          <a:solidFill>
            <a:srgbClr val="E8EAF6"/>
          </a:solidFill>
          <a:ln w="25400">
            <a:solidFill>
              <a:srgbClr val="1A237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500" b="1">
                <a:solidFill>
                  <a:srgbClr val="1A237E"/>
                </a:solidFill>
              </a:rPr>
              <a:t>社会学 ＝ この「ありそうもなさ」を可能にする前提を遡って考える学問
（デュルケム：「前提にも前提があり、その連鎖を生態系として研究する」）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731520"/>
          </a:xfrm>
          <a:prstGeom prst="rect">
            <a:avLst/>
          </a:prstGeom>
          <a:noFill/>
        </p:spPr>
        <p:txBody>
          <a:bodyPr wrap="square">
            <a:spAutoFit/>
          </a:bodyPr>
          <a:lstStyle/>
          <a:p>
            <a:pPr algn="l"/>
            <a:r>
              <a:rPr sz="3000" b="1">
                <a:solidFill>
                  <a:srgbClr val="FFFFFF"/>
                </a:solidFill>
              </a:rPr>
              <a:t>社会学の三人の父</a:t>
            </a:r>
          </a:p>
        </p:txBody>
      </p:sp>
      <p:sp>
        <p:nvSpPr>
          <p:cNvPr id="4" name="TextBox 3"/>
          <p:cNvSpPr txBox="1"/>
          <p:nvPr/>
        </p:nvSpPr>
        <p:spPr>
          <a:xfrm>
            <a:off x="274320" y="749808"/>
            <a:ext cx="11430000" cy="347472"/>
          </a:xfrm>
          <a:prstGeom prst="rect">
            <a:avLst/>
          </a:prstGeom>
          <a:noFill/>
        </p:spPr>
        <p:txBody>
          <a:bodyPr wrap="square">
            <a:spAutoFit/>
          </a:bodyPr>
          <a:lstStyle/>
          <a:p>
            <a:pPr algn="l"/>
            <a:r>
              <a:rPr sz="1400" b="0">
                <a:solidFill>
                  <a:srgbClr val="BBDEFF"/>
                </a:solidFill>
              </a:rPr>
              <a:t>19世紀末〜20世紀初頭：近代批判の出発点</a:t>
            </a:r>
          </a:p>
        </p:txBody>
      </p:sp>
      <p:sp>
        <p:nvSpPr>
          <p:cNvPr id="5" name="Rectangle 4"/>
          <p:cNvSpPr/>
          <p:nvPr/>
        </p:nvSpPr>
        <p:spPr>
          <a:xfrm>
            <a:off x="0" y="1188720"/>
            <a:ext cx="12188952" cy="566928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71600"/>
            <a:ext cx="3749039" cy="594360"/>
          </a:xfrm>
          <a:prstGeom prst="rect">
            <a:avLst/>
          </a:prstGeom>
          <a:solidFill>
            <a:srgbClr val="1976D2"/>
          </a:solidFill>
          <a:ln w="1905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2000" b="1">
                <a:solidFill>
                  <a:srgbClr val="FFFFFF"/>
                </a:solidFill>
              </a:rPr>
              <a:t>デュルケム</a:t>
            </a:r>
          </a:p>
        </p:txBody>
      </p:sp>
      <p:sp>
        <p:nvSpPr>
          <p:cNvPr id="7" name="Rectangle 6"/>
          <p:cNvSpPr/>
          <p:nvPr/>
        </p:nvSpPr>
        <p:spPr>
          <a:xfrm>
            <a:off x="274320" y="1965960"/>
            <a:ext cx="3749039" cy="411480"/>
          </a:xfrm>
          <a:prstGeom prst="rect">
            <a:avLst/>
          </a:prstGeom>
          <a:solidFill>
            <a:srgbClr val="E3F2FD"/>
          </a:solidFill>
          <a:ln w="1905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100" b="0">
                <a:solidFill>
                  <a:srgbClr val="212121"/>
                </a:solidFill>
              </a:rPr>
              <a:t>Émile Durkheim 1858-1917</a:t>
            </a:r>
          </a:p>
        </p:txBody>
      </p:sp>
      <p:sp>
        <p:nvSpPr>
          <p:cNvPr id="8" name="Rectangle 7"/>
          <p:cNvSpPr/>
          <p:nvPr/>
        </p:nvSpPr>
        <p:spPr>
          <a:xfrm>
            <a:off x="274320" y="2377440"/>
            <a:ext cx="3749039" cy="4251960"/>
          </a:xfrm>
          <a:prstGeom prst="rect">
            <a:avLst/>
          </a:prstGeom>
          <a:solidFill>
            <a:srgbClr val="FFFFFF"/>
          </a:solidFill>
          <a:ln w="19050">
            <a:solidFill>
              <a:srgbClr val="1976D2"/>
            </a:solidFill>
          </a:ln>
        </p:spPr>
        <p:style>
          <a:lnRef idx="1">
            <a:schemeClr val="accent1"/>
          </a:lnRef>
          <a:fillRef idx="3">
            <a:schemeClr val="accent1"/>
          </a:fillRef>
          <a:effectRef idx="2">
            <a:schemeClr val="accent1"/>
          </a:effectRef>
          <a:fontRef idx="minor">
            <a:schemeClr val="lt1"/>
          </a:fontRef>
        </p:style>
        <p:txBody>
          <a:bodyPr rtlCol="0" anchor="t" wrap="square" tIns="91440"/>
          <a:lstStyle/>
          <a:p>
            <a:pPr algn="l"/>
            <a:r>
              <a:rPr sz="1300">
                <a:solidFill>
                  <a:srgbClr val="212121"/>
                </a:solidFill>
              </a:rPr>
              <a:t>■ 集合表象
みんながあると思うから存在する対象
（国家・氏神などは同格）
■ 社会的事実
万人が踏まえる自明かつ非自然的な前提
■ 社会学＝生態学の一部
逸脱より「正常さ」こそ説明すべき
「ありそうもない」ものとして</a:t>
            </a:r>
          </a:p>
        </p:txBody>
      </p:sp>
      <p:sp>
        <p:nvSpPr>
          <p:cNvPr id="9" name="Rectangle 8"/>
          <p:cNvSpPr/>
          <p:nvPr/>
        </p:nvSpPr>
        <p:spPr>
          <a:xfrm>
            <a:off x="4251959" y="1371600"/>
            <a:ext cx="3749039" cy="594360"/>
          </a:xfrm>
          <a:prstGeom prst="rect">
            <a:avLst/>
          </a:prstGeom>
          <a:solidFill>
            <a:srgbClr val="00695C"/>
          </a:solidFill>
          <a:ln w="19050">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2000" b="1">
                <a:solidFill>
                  <a:srgbClr val="FFFFFF"/>
                </a:solidFill>
              </a:rPr>
              <a:t>ヴェーバー</a:t>
            </a:r>
          </a:p>
        </p:txBody>
      </p:sp>
      <p:sp>
        <p:nvSpPr>
          <p:cNvPr id="10" name="Rectangle 9"/>
          <p:cNvSpPr/>
          <p:nvPr/>
        </p:nvSpPr>
        <p:spPr>
          <a:xfrm>
            <a:off x="4251959" y="1965960"/>
            <a:ext cx="3749039" cy="411480"/>
          </a:xfrm>
          <a:prstGeom prst="rect">
            <a:avLst/>
          </a:prstGeom>
          <a:solidFill>
            <a:srgbClr val="E0F2F1"/>
          </a:solidFill>
          <a:ln w="19050">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100" b="0">
                <a:solidFill>
                  <a:srgbClr val="212121"/>
                </a:solidFill>
              </a:rPr>
              <a:t>Max Weber 1864-1920</a:t>
            </a:r>
          </a:p>
        </p:txBody>
      </p:sp>
      <p:sp>
        <p:nvSpPr>
          <p:cNvPr id="11" name="Rectangle 10"/>
          <p:cNvSpPr/>
          <p:nvPr/>
        </p:nvSpPr>
        <p:spPr>
          <a:xfrm>
            <a:off x="4251959" y="2377440"/>
            <a:ext cx="3749039" cy="4251960"/>
          </a:xfrm>
          <a:prstGeom prst="rect">
            <a:avLst/>
          </a:prstGeom>
          <a:solidFill>
            <a:srgbClr val="FFFFFF"/>
          </a:solidFill>
          <a:ln w="19050">
            <a:solidFill>
              <a:srgbClr val="00695C"/>
            </a:solidFill>
          </a:ln>
        </p:spPr>
        <p:style>
          <a:lnRef idx="1">
            <a:schemeClr val="accent1"/>
          </a:lnRef>
          <a:fillRef idx="3">
            <a:schemeClr val="accent1"/>
          </a:fillRef>
          <a:effectRef idx="2">
            <a:schemeClr val="accent1"/>
          </a:effectRef>
          <a:fontRef idx="minor">
            <a:schemeClr val="lt1"/>
          </a:fontRef>
        </p:style>
        <p:txBody>
          <a:bodyPr rtlCol="0" anchor="t" wrap="square" tIns="91440"/>
          <a:lstStyle/>
          <a:p>
            <a:pPr algn="l"/>
            <a:r>
              <a:rPr sz="1300">
                <a:solidFill>
                  <a:srgbClr val="212121"/>
                </a:solidFill>
              </a:rPr>
              <a:t>■ 正統性の3類型
伝統的・カリスマ的・合法的
■ 目的合理 vs 価値合理
交換（手段）vs 贈与（価値それ自体）
■ 近代 ＝ 合法的正統性
手続きによる法→複雑な分業編制
→官僚制・予測可能性</a:t>
            </a:r>
          </a:p>
        </p:txBody>
      </p:sp>
      <p:sp>
        <p:nvSpPr>
          <p:cNvPr id="12" name="Rectangle 11"/>
          <p:cNvSpPr/>
          <p:nvPr/>
        </p:nvSpPr>
        <p:spPr>
          <a:xfrm>
            <a:off x="8229600" y="1371600"/>
            <a:ext cx="3749039" cy="594360"/>
          </a:xfrm>
          <a:prstGeom prst="rect">
            <a:avLst/>
          </a:prstGeom>
          <a:solidFill>
            <a:srgbClr val="F57C00"/>
          </a:solidFill>
          <a:ln w="19050">
            <a:solidFill>
              <a:srgbClr val="F57C0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2000" b="1">
                <a:solidFill>
                  <a:srgbClr val="FFFFFF"/>
                </a:solidFill>
              </a:rPr>
              <a:t>ジンメル</a:t>
            </a:r>
          </a:p>
        </p:txBody>
      </p:sp>
      <p:sp>
        <p:nvSpPr>
          <p:cNvPr id="13" name="Rectangle 12"/>
          <p:cNvSpPr/>
          <p:nvPr/>
        </p:nvSpPr>
        <p:spPr>
          <a:xfrm>
            <a:off x="8229600" y="1965960"/>
            <a:ext cx="3749039" cy="411480"/>
          </a:xfrm>
          <a:prstGeom prst="rect">
            <a:avLst/>
          </a:prstGeom>
          <a:solidFill>
            <a:srgbClr val="FFF3E0"/>
          </a:solidFill>
          <a:ln w="19050">
            <a:solidFill>
              <a:srgbClr val="F57C0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100" b="0">
                <a:solidFill>
                  <a:srgbClr val="212121"/>
                </a:solidFill>
              </a:rPr>
              <a:t>Georg Simmel 1858-1918</a:t>
            </a:r>
          </a:p>
        </p:txBody>
      </p:sp>
      <p:sp>
        <p:nvSpPr>
          <p:cNvPr id="14" name="Rectangle 13"/>
          <p:cNvSpPr/>
          <p:nvPr/>
        </p:nvSpPr>
        <p:spPr>
          <a:xfrm>
            <a:off x="8229600" y="2377440"/>
            <a:ext cx="3749039" cy="4251960"/>
          </a:xfrm>
          <a:prstGeom prst="rect">
            <a:avLst/>
          </a:prstGeom>
          <a:solidFill>
            <a:srgbClr val="FFFFFF"/>
          </a:solidFill>
          <a:ln w="19050">
            <a:solidFill>
              <a:srgbClr val="F57C00"/>
            </a:solidFill>
          </a:ln>
        </p:spPr>
        <p:style>
          <a:lnRef idx="1">
            <a:schemeClr val="accent1"/>
          </a:lnRef>
          <a:fillRef idx="3">
            <a:schemeClr val="accent1"/>
          </a:fillRef>
          <a:effectRef idx="2">
            <a:schemeClr val="accent1"/>
          </a:effectRef>
          <a:fontRef idx="minor">
            <a:schemeClr val="lt1"/>
          </a:fontRef>
        </p:style>
        <p:txBody>
          <a:bodyPr rtlCol="0" anchor="t" wrap="square" tIns="91440"/>
          <a:lstStyle/>
          <a:p>
            <a:pPr algn="l"/>
            <a:r>
              <a:rPr sz="1300">
                <a:solidFill>
                  <a:srgbClr val="212121"/>
                </a:solidFill>
              </a:rPr>
              <a:t>■ 社会は3人から始まる
3人になると「自分以外のみんな」
という想像的全体が生まれる
■ 想像的共同体
各人が共通前提を信頼できる時
3人は想像的共同体に昇格
■ 定住集団の最小単位
クラン（500人程度）＝3つのバンド</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731520"/>
          </a:xfrm>
          <a:prstGeom prst="rect">
            <a:avLst/>
          </a:prstGeom>
          <a:noFill/>
        </p:spPr>
        <p:txBody>
          <a:bodyPr wrap="square">
            <a:spAutoFit/>
          </a:bodyPr>
          <a:lstStyle/>
          <a:p>
            <a:pPr algn="l"/>
            <a:r>
              <a:rPr sz="3000" b="1">
                <a:solidFill>
                  <a:srgbClr val="FFFFFF"/>
                </a:solidFill>
              </a:rPr>
              <a:t>ヴェーバー：正統性の3類型</a:t>
            </a:r>
          </a:p>
        </p:txBody>
      </p:sp>
      <p:sp>
        <p:nvSpPr>
          <p:cNvPr id="4" name="TextBox 3"/>
          <p:cNvSpPr txBox="1"/>
          <p:nvPr/>
        </p:nvSpPr>
        <p:spPr>
          <a:xfrm>
            <a:off x="274320" y="749808"/>
            <a:ext cx="11430000" cy="347472"/>
          </a:xfrm>
          <a:prstGeom prst="rect">
            <a:avLst/>
          </a:prstGeom>
          <a:noFill/>
        </p:spPr>
        <p:txBody>
          <a:bodyPr wrap="square">
            <a:spAutoFit/>
          </a:bodyPr>
          <a:lstStyle/>
          <a:p>
            <a:pPr algn="l"/>
            <a:r>
              <a:rPr sz="1400" b="0">
                <a:solidFill>
                  <a:srgbClr val="BBDEFF"/>
                </a:solidFill>
              </a:rPr>
              <a:t>なぜ人は権力に自発的に従うのか？</a:t>
            </a:r>
          </a:p>
        </p:txBody>
      </p:sp>
      <p:sp>
        <p:nvSpPr>
          <p:cNvPr id="5" name="Rectangle 4"/>
          <p:cNvSpPr/>
          <p:nvPr/>
        </p:nvSpPr>
        <p:spPr>
          <a:xfrm>
            <a:off x="0" y="1188720"/>
            <a:ext cx="12188952" cy="566928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71600"/>
            <a:ext cx="3749039" cy="640080"/>
          </a:xfrm>
          <a:prstGeom prst="rect">
            <a:avLst/>
          </a:prstGeom>
          <a:solidFill>
            <a:srgbClr val="00695C"/>
          </a:solidFill>
          <a:ln w="19050">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800" b="1">
                <a:solidFill>
                  <a:srgbClr val="FFFFFF"/>
                </a:solidFill>
              </a:rPr>
              <a:t>伝統的正統性</a:t>
            </a:r>
          </a:p>
        </p:txBody>
      </p:sp>
      <p:sp>
        <p:nvSpPr>
          <p:cNvPr id="7" name="Rectangle 6"/>
          <p:cNvSpPr/>
          <p:nvPr/>
        </p:nvSpPr>
        <p:spPr>
          <a:xfrm>
            <a:off x="274320" y="2011680"/>
            <a:ext cx="3749039" cy="822960"/>
          </a:xfrm>
          <a:prstGeom prst="rect">
            <a:avLst/>
          </a:prstGeom>
          <a:solidFill>
            <a:srgbClr val="E0F2F1"/>
          </a:solidFill>
          <a:ln w="19050">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400" b="0">
                <a:solidFill>
                  <a:srgbClr val="212121"/>
                </a:solidFill>
              </a:rPr>
              <a:t>昔から・みんながやっていた
という信念だけで従う</a:t>
            </a:r>
          </a:p>
        </p:txBody>
      </p:sp>
      <p:sp>
        <p:nvSpPr>
          <p:cNvPr id="8" name="Rectangle 7"/>
          <p:cNvSpPr/>
          <p:nvPr/>
        </p:nvSpPr>
        <p:spPr>
          <a:xfrm>
            <a:off x="274320" y="2834640"/>
            <a:ext cx="3749039" cy="1554480"/>
          </a:xfrm>
          <a:prstGeom prst="rect">
            <a:avLst/>
          </a:prstGeom>
          <a:solidFill>
            <a:srgbClr val="FFFFFF"/>
          </a:solidFill>
          <a:ln w="19050">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300" b="0">
                <a:solidFill>
                  <a:srgbClr val="212121"/>
                </a:solidFill>
              </a:rPr>
              <a:t>例：長老の命令・慣習・家訓
進化生物学的基盤：
孤独を恐れるゲノム</a:t>
            </a:r>
          </a:p>
        </p:txBody>
      </p:sp>
      <p:sp>
        <p:nvSpPr>
          <p:cNvPr id="9" name="Rectangle 8"/>
          <p:cNvSpPr/>
          <p:nvPr/>
        </p:nvSpPr>
        <p:spPr>
          <a:xfrm>
            <a:off x="274320" y="4389120"/>
            <a:ext cx="3749039" cy="1005840"/>
          </a:xfrm>
          <a:prstGeom prst="rect">
            <a:avLst/>
          </a:prstGeom>
          <a:solidFill>
            <a:srgbClr val="E0F2F1"/>
          </a:solidFill>
          <a:ln w="19050">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200" b="0">
                <a:solidFill>
                  <a:srgbClr val="212121"/>
                </a:solidFill>
              </a:rPr>
              <a:t>カリスマ劣化後の
補完役として機能</a:t>
            </a:r>
          </a:p>
        </p:txBody>
      </p:sp>
      <p:sp>
        <p:nvSpPr>
          <p:cNvPr id="10" name="Rectangle 9"/>
          <p:cNvSpPr/>
          <p:nvPr/>
        </p:nvSpPr>
        <p:spPr>
          <a:xfrm>
            <a:off x="4251959" y="1371600"/>
            <a:ext cx="3749039" cy="640080"/>
          </a:xfrm>
          <a:prstGeom prst="rect">
            <a:avLst/>
          </a:prstGeom>
          <a:solidFill>
            <a:srgbClr val="F57C00"/>
          </a:solidFill>
          <a:ln w="19050">
            <a:solidFill>
              <a:srgbClr val="F57C0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800" b="1">
                <a:solidFill>
                  <a:srgbClr val="FFFFFF"/>
                </a:solidFill>
              </a:rPr>
              <a:t>カリスマ的正統性</a:t>
            </a:r>
          </a:p>
        </p:txBody>
      </p:sp>
      <p:sp>
        <p:nvSpPr>
          <p:cNvPr id="11" name="Rectangle 10"/>
          <p:cNvSpPr/>
          <p:nvPr/>
        </p:nvSpPr>
        <p:spPr>
          <a:xfrm>
            <a:off x="4251959" y="2011680"/>
            <a:ext cx="3749039" cy="822960"/>
          </a:xfrm>
          <a:prstGeom prst="rect">
            <a:avLst/>
          </a:prstGeom>
          <a:solidFill>
            <a:srgbClr val="FFF3E0"/>
          </a:solidFill>
          <a:ln w="19050">
            <a:solidFill>
              <a:srgbClr val="F57C0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400" b="0">
                <a:solidFill>
                  <a:srgbClr val="212121"/>
                </a:solidFill>
              </a:rPr>
              <a:t>圧倒的に凄い人を前に
喜んで従おうとする</a:t>
            </a:r>
          </a:p>
        </p:txBody>
      </p:sp>
      <p:sp>
        <p:nvSpPr>
          <p:cNvPr id="12" name="Rectangle 11"/>
          <p:cNvSpPr/>
          <p:nvPr/>
        </p:nvSpPr>
        <p:spPr>
          <a:xfrm>
            <a:off x="4251959" y="2834640"/>
            <a:ext cx="3749039" cy="1554480"/>
          </a:xfrm>
          <a:prstGeom prst="rect">
            <a:avLst/>
          </a:prstGeom>
          <a:solidFill>
            <a:srgbClr val="FFFFFF"/>
          </a:solidFill>
          <a:ln w="19050">
            <a:solidFill>
              <a:srgbClr val="F57C0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300" b="0">
                <a:solidFill>
                  <a:srgbClr val="212121"/>
                </a:solidFill>
              </a:rPr>
              <a:t>例：宗教的指導者・英雄
損得にも威嚇にも
還元できない非日常性</a:t>
            </a:r>
          </a:p>
        </p:txBody>
      </p:sp>
      <p:sp>
        <p:nvSpPr>
          <p:cNvPr id="13" name="Rectangle 12"/>
          <p:cNvSpPr/>
          <p:nvPr/>
        </p:nvSpPr>
        <p:spPr>
          <a:xfrm>
            <a:off x="4251959" y="4389120"/>
            <a:ext cx="3749039" cy="1005840"/>
          </a:xfrm>
          <a:prstGeom prst="rect">
            <a:avLst/>
          </a:prstGeom>
          <a:solidFill>
            <a:srgbClr val="FFF3E0"/>
          </a:solidFill>
          <a:ln w="19050">
            <a:solidFill>
              <a:srgbClr val="F57C0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200" b="0">
                <a:solidFill>
                  <a:srgbClr val="212121"/>
                </a:solidFill>
              </a:rPr>
              <a:t>死亡・変質でカリスマ劣化
→伝統的正統性で補完
→循環する</a:t>
            </a:r>
          </a:p>
        </p:txBody>
      </p:sp>
      <p:sp>
        <p:nvSpPr>
          <p:cNvPr id="14" name="Rectangle 13"/>
          <p:cNvSpPr/>
          <p:nvPr/>
        </p:nvSpPr>
        <p:spPr>
          <a:xfrm>
            <a:off x="8229600" y="1371600"/>
            <a:ext cx="3749039" cy="640080"/>
          </a:xfrm>
          <a:prstGeom prst="rect">
            <a:avLst/>
          </a:prstGeom>
          <a:solidFill>
            <a:srgbClr val="1976D2"/>
          </a:solidFill>
          <a:ln w="1905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800" b="1">
                <a:solidFill>
                  <a:srgbClr val="FFFFFF"/>
                </a:solidFill>
              </a:rPr>
              <a:t>合法的正統性</a:t>
            </a:r>
          </a:p>
        </p:txBody>
      </p:sp>
      <p:sp>
        <p:nvSpPr>
          <p:cNvPr id="15" name="Rectangle 14"/>
          <p:cNvSpPr/>
          <p:nvPr/>
        </p:nvSpPr>
        <p:spPr>
          <a:xfrm>
            <a:off x="8229600" y="2011680"/>
            <a:ext cx="3749039" cy="822960"/>
          </a:xfrm>
          <a:prstGeom prst="rect">
            <a:avLst/>
          </a:prstGeom>
          <a:solidFill>
            <a:srgbClr val="E3F2FD"/>
          </a:solidFill>
          <a:ln w="1905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400" b="0">
                <a:solidFill>
                  <a:srgbClr val="212121"/>
                </a:solidFill>
              </a:rPr>
              <a:t>適切な手続きで成立した
法なら内容を問わず従う</a:t>
            </a:r>
          </a:p>
        </p:txBody>
      </p:sp>
      <p:sp>
        <p:nvSpPr>
          <p:cNvPr id="16" name="Rectangle 15"/>
          <p:cNvSpPr/>
          <p:nvPr/>
        </p:nvSpPr>
        <p:spPr>
          <a:xfrm>
            <a:off x="8229600" y="2834640"/>
            <a:ext cx="3749039" cy="1554480"/>
          </a:xfrm>
          <a:prstGeom prst="rect">
            <a:avLst/>
          </a:prstGeom>
          <a:solidFill>
            <a:srgbClr val="FFFFFF"/>
          </a:solidFill>
          <a:ln w="1905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300" b="0">
                <a:solidFill>
                  <a:srgbClr val="212121"/>
                </a:solidFill>
              </a:rPr>
              <a:t>例：民主主義的立法
　　官僚制・契約
これが「近代」の本質</a:t>
            </a:r>
          </a:p>
        </p:txBody>
      </p:sp>
      <p:sp>
        <p:nvSpPr>
          <p:cNvPr id="17" name="Rectangle 16"/>
          <p:cNvSpPr/>
          <p:nvPr/>
        </p:nvSpPr>
        <p:spPr>
          <a:xfrm>
            <a:off x="8229600" y="4389120"/>
            <a:ext cx="3749039" cy="1005840"/>
          </a:xfrm>
          <a:prstGeom prst="rect">
            <a:avLst/>
          </a:prstGeom>
          <a:solidFill>
            <a:srgbClr val="E3F2FD"/>
          </a:solidFill>
          <a:ln w="1905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200" b="0">
                <a:solidFill>
                  <a:srgbClr val="212121"/>
                </a:solidFill>
              </a:rPr>
              <a:t>⚠ 欠陥：カリスマ的英雄統治
と無関係に成り立つとした
→民主制の脆弱性の盲点</a:t>
            </a:r>
          </a:p>
        </p:txBody>
      </p:sp>
      <p:sp>
        <p:nvSpPr>
          <p:cNvPr id="18" name="Rectangle 17"/>
          <p:cNvSpPr/>
          <p:nvPr/>
        </p:nvSpPr>
        <p:spPr>
          <a:xfrm>
            <a:off x="274320" y="5577840"/>
            <a:ext cx="11612880" cy="1097280"/>
          </a:xfrm>
          <a:prstGeom prst="rect">
            <a:avLst/>
          </a:prstGeom>
          <a:solidFill>
            <a:srgbClr val="FFEBEE"/>
          </a:solidFill>
          <a:ln w="254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400" b="1">
                <a:solidFill>
                  <a:srgbClr val="C62828"/>
                </a:solidFill>
              </a:rPr>
              <a:t>「合法的正統性」のみが複雑な分業編制（官僚制）と柔軟性を両立 → 近代社会の基盤
しかし「民主政の正確な作動ゆえに民主制が破壊される」事態を見落としていた（20世紀ドイツ社会学が警告）</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731520"/>
          </a:xfrm>
          <a:prstGeom prst="rect">
            <a:avLst/>
          </a:prstGeom>
          <a:noFill/>
        </p:spPr>
        <p:txBody>
          <a:bodyPr wrap="square">
            <a:spAutoFit/>
          </a:bodyPr>
          <a:lstStyle/>
          <a:p>
            <a:pPr algn="l"/>
            <a:r>
              <a:rPr sz="3000" b="1">
                <a:solidFill>
                  <a:srgbClr val="FFFFFF"/>
                </a:solidFill>
              </a:rPr>
              <a:t>人格 vs 没人格</a:t>
            </a:r>
          </a:p>
        </p:txBody>
      </p:sp>
      <p:sp>
        <p:nvSpPr>
          <p:cNvPr id="4" name="TextBox 3"/>
          <p:cNvSpPr txBox="1"/>
          <p:nvPr/>
        </p:nvSpPr>
        <p:spPr>
          <a:xfrm>
            <a:off x="274320" y="749808"/>
            <a:ext cx="11430000" cy="347472"/>
          </a:xfrm>
          <a:prstGeom prst="rect">
            <a:avLst/>
          </a:prstGeom>
          <a:noFill/>
        </p:spPr>
        <p:txBody>
          <a:bodyPr wrap="square">
            <a:spAutoFit/>
          </a:bodyPr>
          <a:lstStyle/>
          <a:p>
            <a:pPr algn="l"/>
            <a:r>
              <a:rPr sz="1400" b="0">
                <a:solidFill>
                  <a:srgbClr val="BBDEFF"/>
                </a:solidFill>
              </a:rPr>
              <a:t>産業革命後の「生きづらさ」の本質（ヴェーバー・ニーチェ・フロイト共通図式）</a:t>
            </a:r>
          </a:p>
        </p:txBody>
      </p:sp>
      <p:sp>
        <p:nvSpPr>
          <p:cNvPr id="5" name="Rectangle 4"/>
          <p:cNvSpPr/>
          <p:nvPr/>
        </p:nvSpPr>
        <p:spPr>
          <a:xfrm>
            <a:off x="0" y="1188720"/>
            <a:ext cx="12188952" cy="566928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71600"/>
            <a:ext cx="5212080" cy="640080"/>
          </a:xfrm>
          <a:prstGeom prst="rect">
            <a:avLst/>
          </a:prstGeom>
          <a:solidFill>
            <a:srgbClr val="00695C"/>
          </a:solidFill>
          <a:ln w="19050">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2400" b="1">
                <a:solidFill>
                  <a:srgbClr val="FFFFFF"/>
                </a:solidFill>
              </a:rPr>
              <a:t>人格</a:t>
            </a:r>
          </a:p>
        </p:txBody>
      </p:sp>
      <p:sp>
        <p:nvSpPr>
          <p:cNvPr id="7" name="Rectangle 6"/>
          <p:cNvSpPr/>
          <p:nvPr/>
        </p:nvSpPr>
        <p:spPr>
          <a:xfrm>
            <a:off x="274320" y="2057400"/>
            <a:ext cx="5212080" cy="548640"/>
          </a:xfrm>
          <a:prstGeom prst="rect">
            <a:avLst/>
          </a:prstGeom>
          <a:solidFill>
            <a:srgbClr val="E0F2F1"/>
          </a:solidFill>
          <a:ln w="12700">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400" b="0">
                <a:solidFill>
                  <a:srgbClr val="212121"/>
                </a:solidFill>
              </a:rPr>
              <a:t>✓  内から力が湧く（価値合理）</a:t>
            </a:r>
          </a:p>
        </p:txBody>
      </p:sp>
      <p:sp>
        <p:nvSpPr>
          <p:cNvPr id="8" name="Rectangle 7"/>
          <p:cNvSpPr/>
          <p:nvPr/>
        </p:nvSpPr>
        <p:spPr>
          <a:xfrm>
            <a:off x="274320" y="2670048"/>
            <a:ext cx="5212080" cy="548640"/>
          </a:xfrm>
          <a:prstGeom prst="rect">
            <a:avLst/>
          </a:prstGeom>
          <a:solidFill>
            <a:srgbClr val="FFFFFF"/>
          </a:solidFill>
          <a:ln w="12700">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400" b="0">
                <a:solidFill>
                  <a:srgbClr val="212121"/>
                </a:solidFill>
              </a:rPr>
              <a:t>✓  ギリシア的・初期ギリシアが賞揚</a:t>
            </a:r>
          </a:p>
        </p:txBody>
      </p:sp>
      <p:sp>
        <p:nvSpPr>
          <p:cNvPr id="9" name="Rectangle 8"/>
          <p:cNvSpPr/>
          <p:nvPr/>
        </p:nvSpPr>
        <p:spPr>
          <a:xfrm>
            <a:off x="274320" y="3282696"/>
            <a:ext cx="5212080" cy="548640"/>
          </a:xfrm>
          <a:prstGeom prst="rect">
            <a:avLst/>
          </a:prstGeom>
          <a:solidFill>
            <a:srgbClr val="E0F2F1"/>
          </a:solidFill>
          <a:ln w="12700">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400" b="0">
                <a:solidFill>
                  <a:srgbClr val="212121"/>
                </a:solidFill>
              </a:rPr>
              <a:t>✓  贈与：することに価値がある</a:t>
            </a:r>
          </a:p>
        </p:txBody>
      </p:sp>
      <p:sp>
        <p:nvSpPr>
          <p:cNvPr id="10" name="Rectangle 9"/>
          <p:cNvSpPr/>
          <p:nvPr/>
        </p:nvSpPr>
        <p:spPr>
          <a:xfrm>
            <a:off x="274320" y="3895344"/>
            <a:ext cx="5212080" cy="548640"/>
          </a:xfrm>
          <a:prstGeom prst="rect">
            <a:avLst/>
          </a:prstGeom>
          <a:solidFill>
            <a:srgbClr val="FFFFFF"/>
          </a:solidFill>
          <a:ln w="12700">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400" b="0">
                <a:solidFill>
                  <a:srgbClr val="212121"/>
                </a:solidFill>
              </a:rPr>
              <a:t>✓  共同身体性・共同体の中で生きる</a:t>
            </a:r>
          </a:p>
        </p:txBody>
      </p:sp>
      <p:sp>
        <p:nvSpPr>
          <p:cNvPr id="11" name="Rectangle 10"/>
          <p:cNvSpPr/>
          <p:nvPr/>
        </p:nvSpPr>
        <p:spPr>
          <a:xfrm>
            <a:off x="274320" y="4507992"/>
            <a:ext cx="5212080" cy="548640"/>
          </a:xfrm>
          <a:prstGeom prst="rect">
            <a:avLst/>
          </a:prstGeom>
          <a:solidFill>
            <a:srgbClr val="E0F2F1"/>
          </a:solidFill>
          <a:ln w="12700">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400" b="0">
                <a:solidFill>
                  <a:srgbClr val="212121"/>
                </a:solidFill>
              </a:rPr>
              <a:t>✓  「あなたのために死ねる（力）」</a:t>
            </a:r>
          </a:p>
        </p:txBody>
      </p:sp>
      <p:sp>
        <p:nvSpPr>
          <p:cNvPr id="12" name="Rectangle 11"/>
          <p:cNvSpPr/>
          <p:nvPr/>
        </p:nvSpPr>
        <p:spPr>
          <a:xfrm>
            <a:off x="274320" y="5120640"/>
            <a:ext cx="5212080" cy="548640"/>
          </a:xfrm>
          <a:prstGeom prst="rect">
            <a:avLst/>
          </a:prstGeom>
          <a:solidFill>
            <a:srgbClr val="FFFFFF"/>
          </a:solidFill>
          <a:ln w="12700">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400" b="0">
                <a:solidFill>
                  <a:srgbClr val="212121"/>
                </a:solidFill>
              </a:rPr>
              <a:t>✓  プラグマティスト：内的な力を重んじる</a:t>
            </a:r>
          </a:p>
        </p:txBody>
      </p:sp>
      <p:sp>
        <p:nvSpPr>
          <p:cNvPr id="13" name="Rectangle 12"/>
          <p:cNvSpPr/>
          <p:nvPr/>
        </p:nvSpPr>
        <p:spPr>
          <a:xfrm>
            <a:off x="6675120" y="1371600"/>
            <a:ext cx="5212080" cy="640080"/>
          </a:xfrm>
          <a:prstGeom prst="rect">
            <a:avLst/>
          </a:prstGeom>
          <a:solidFill>
            <a:srgbClr val="C62828"/>
          </a:solidFill>
          <a:ln w="1905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2400" b="1">
                <a:solidFill>
                  <a:srgbClr val="FFFFFF"/>
                </a:solidFill>
              </a:rPr>
              <a:t>没人格</a:t>
            </a:r>
          </a:p>
        </p:txBody>
      </p:sp>
      <p:sp>
        <p:nvSpPr>
          <p:cNvPr id="14" name="Rectangle 13"/>
          <p:cNvSpPr/>
          <p:nvPr/>
        </p:nvSpPr>
        <p:spPr>
          <a:xfrm>
            <a:off x="6675120" y="2057400"/>
            <a:ext cx="5212080" cy="548640"/>
          </a:xfrm>
          <a:prstGeom prst="rect">
            <a:avLst/>
          </a:prstGeom>
          <a:solidFill>
            <a:srgbClr val="FFEBEE"/>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400" b="0">
                <a:solidFill>
                  <a:srgbClr val="212121"/>
                </a:solidFill>
              </a:rPr>
              <a:t>✗  力が湧かない → 損得勘定で埋める</a:t>
            </a:r>
          </a:p>
        </p:txBody>
      </p:sp>
      <p:sp>
        <p:nvSpPr>
          <p:cNvPr id="15" name="Rectangle 14"/>
          <p:cNvSpPr/>
          <p:nvPr/>
        </p:nvSpPr>
        <p:spPr>
          <a:xfrm>
            <a:off x="6675120" y="2670048"/>
            <a:ext cx="5212080" cy="548640"/>
          </a:xfrm>
          <a:prstGeom prst="rect">
            <a:avLst/>
          </a:prstGeom>
          <a:solidFill>
            <a:srgbClr val="FFFFFF"/>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400" b="0">
                <a:solidFill>
                  <a:srgbClr val="212121"/>
                </a:solidFill>
              </a:rPr>
              <a:t>✗  セム族的・一神教的（目的合理）</a:t>
            </a:r>
          </a:p>
        </p:txBody>
      </p:sp>
      <p:sp>
        <p:nvSpPr>
          <p:cNvPr id="16" name="Rectangle 15"/>
          <p:cNvSpPr/>
          <p:nvPr/>
        </p:nvSpPr>
        <p:spPr>
          <a:xfrm>
            <a:off x="6675120" y="3282696"/>
            <a:ext cx="5212080" cy="548640"/>
          </a:xfrm>
          <a:prstGeom prst="rect">
            <a:avLst/>
          </a:prstGeom>
          <a:solidFill>
            <a:srgbClr val="FFEBEE"/>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400" b="0">
                <a:solidFill>
                  <a:srgbClr val="212121"/>
                </a:solidFill>
              </a:rPr>
              <a:t>✗  交換：手段として役立つかどうか</a:t>
            </a:r>
          </a:p>
        </p:txBody>
      </p:sp>
      <p:sp>
        <p:nvSpPr>
          <p:cNvPr id="17" name="Rectangle 16"/>
          <p:cNvSpPr/>
          <p:nvPr/>
        </p:nvSpPr>
        <p:spPr>
          <a:xfrm>
            <a:off x="6675120" y="3895344"/>
            <a:ext cx="5212080" cy="548640"/>
          </a:xfrm>
          <a:prstGeom prst="rect">
            <a:avLst/>
          </a:prstGeom>
          <a:solidFill>
            <a:srgbClr val="FFFFFF"/>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400" b="0">
                <a:solidFill>
                  <a:srgbClr val="212121"/>
                </a:solidFill>
              </a:rPr>
              <a:t>✗  置換可能な道具・汎人格</a:t>
            </a:r>
          </a:p>
        </p:txBody>
      </p:sp>
      <p:sp>
        <p:nvSpPr>
          <p:cNvPr id="18" name="Rectangle 17"/>
          <p:cNvSpPr/>
          <p:nvPr/>
        </p:nvSpPr>
        <p:spPr>
          <a:xfrm>
            <a:off x="6675120" y="4507992"/>
            <a:ext cx="5212080" cy="548640"/>
          </a:xfrm>
          <a:prstGeom prst="rect">
            <a:avLst/>
          </a:prstGeom>
          <a:solidFill>
            <a:srgbClr val="FFEBEE"/>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400" b="0">
                <a:solidFill>
                  <a:srgbClr val="212121"/>
                </a:solidFill>
              </a:rPr>
              <a:t>✗  「みんなのために死ねる（法）」</a:t>
            </a:r>
          </a:p>
        </p:txBody>
      </p:sp>
      <p:sp>
        <p:nvSpPr>
          <p:cNvPr id="19" name="Rectangle 18"/>
          <p:cNvSpPr/>
          <p:nvPr/>
        </p:nvSpPr>
        <p:spPr>
          <a:xfrm>
            <a:off x="6675120" y="5120640"/>
            <a:ext cx="5212080" cy="548640"/>
          </a:xfrm>
          <a:prstGeom prst="rect">
            <a:avLst/>
          </a:prstGeom>
          <a:solidFill>
            <a:srgbClr val="FFFFFF"/>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400" b="0">
                <a:solidFill>
                  <a:srgbClr val="212121"/>
                </a:solidFill>
              </a:rPr>
              <a:t>✗  ニヒリズム：損得にしか動機を持てない</a:t>
            </a:r>
          </a:p>
        </p:txBody>
      </p:sp>
      <p:sp>
        <p:nvSpPr>
          <p:cNvPr id="20" name="Rectangle 19"/>
          <p:cNvSpPr/>
          <p:nvPr/>
        </p:nvSpPr>
        <p:spPr>
          <a:xfrm>
            <a:off x="5486400" y="3017520"/>
            <a:ext cx="1188720" cy="1005840"/>
          </a:xfrm>
          <a:prstGeom prst="rect">
            <a:avLst/>
          </a:prstGeom>
          <a:solidFill>
            <a:srgbClr val="1A237E"/>
          </a:solidFill>
          <a:ln w="19050">
            <a:solidFill>
              <a:srgbClr val="1A237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2800" b="1">
                <a:solidFill>
                  <a:srgbClr val="FFFFFF"/>
                </a:solidFill>
              </a:rPr>
              <a:t>VS</a:t>
            </a:r>
          </a:p>
        </p:txBody>
      </p:sp>
      <p:sp>
        <p:nvSpPr>
          <p:cNvPr id="21" name="Rectangle 20"/>
          <p:cNvSpPr/>
          <p:nvPr/>
        </p:nvSpPr>
        <p:spPr>
          <a:xfrm>
            <a:off x="274320" y="5943600"/>
            <a:ext cx="11612880" cy="777240"/>
          </a:xfrm>
          <a:prstGeom prst="rect">
            <a:avLst/>
          </a:prstGeom>
          <a:solidFill>
            <a:srgbClr val="E8EAF6"/>
          </a:solidFill>
          <a:ln w="25400">
            <a:solidFill>
              <a:srgbClr val="1A237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300" b="0">
                <a:solidFill>
                  <a:srgbClr val="1A237E"/>
                </a:solidFill>
              </a:rPr>
              <a:t>産業革命→賃労働化・都市化→「置換可能な道具」への疎外 ＝ ニーチェ「ルサンチマン」・フロイト「神経症」の図式と同根</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731520"/>
          </a:xfrm>
          <a:prstGeom prst="rect">
            <a:avLst/>
          </a:prstGeom>
          <a:noFill/>
        </p:spPr>
        <p:txBody>
          <a:bodyPr wrap="square">
            <a:spAutoFit/>
          </a:bodyPr>
          <a:lstStyle/>
          <a:p>
            <a:pPr algn="l"/>
            <a:r>
              <a:rPr sz="3000" b="1">
                <a:solidFill>
                  <a:srgbClr val="FFFFFF"/>
                </a:solidFill>
              </a:rPr>
              <a:t>認識論 vs 存在論</a:t>
            </a:r>
          </a:p>
        </p:txBody>
      </p:sp>
      <p:sp>
        <p:nvSpPr>
          <p:cNvPr id="4" name="TextBox 3"/>
          <p:cNvSpPr txBox="1"/>
          <p:nvPr/>
        </p:nvSpPr>
        <p:spPr>
          <a:xfrm>
            <a:off x="274320" y="749808"/>
            <a:ext cx="11430000" cy="347472"/>
          </a:xfrm>
          <a:prstGeom prst="rect">
            <a:avLst/>
          </a:prstGeom>
          <a:noFill/>
        </p:spPr>
        <p:txBody>
          <a:bodyPr wrap="square">
            <a:spAutoFit/>
          </a:bodyPr>
          <a:lstStyle/>
          <a:p>
            <a:pPr algn="l"/>
            <a:r>
              <a:rPr sz="1400" b="0">
                <a:solidFill>
                  <a:srgbClr val="BBDEFF"/>
                </a:solidFill>
              </a:rPr>
              <a:t>社会学と人類学の根本的な問いの分岐</a:t>
            </a:r>
          </a:p>
        </p:txBody>
      </p:sp>
      <p:sp>
        <p:nvSpPr>
          <p:cNvPr id="5" name="Rectangle 4"/>
          <p:cNvSpPr/>
          <p:nvPr/>
        </p:nvSpPr>
        <p:spPr>
          <a:xfrm>
            <a:off x="0" y="1188720"/>
            <a:ext cx="12188952" cy="566928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71600"/>
            <a:ext cx="5394960" cy="822960"/>
          </a:xfrm>
          <a:prstGeom prst="rect">
            <a:avLst/>
          </a:prstGeom>
          <a:solidFill>
            <a:srgbClr val="1976D2"/>
          </a:solidFill>
          <a:ln w="1905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2200" b="1">
                <a:solidFill>
                  <a:srgbClr val="FFFFFF"/>
                </a:solidFill>
              </a:rPr>
              <a:t>認識論
Epistemology</a:t>
            </a:r>
          </a:p>
        </p:txBody>
      </p:sp>
      <p:sp>
        <p:nvSpPr>
          <p:cNvPr id="7" name="Rectangle 6"/>
          <p:cNvSpPr/>
          <p:nvPr/>
        </p:nvSpPr>
        <p:spPr>
          <a:xfrm>
            <a:off x="6492240" y="1371600"/>
            <a:ext cx="5394960" cy="822960"/>
          </a:xfrm>
          <a:prstGeom prst="rect">
            <a:avLst/>
          </a:prstGeom>
          <a:solidFill>
            <a:srgbClr val="F57C00"/>
          </a:solidFill>
          <a:ln w="19050">
            <a:solidFill>
              <a:srgbClr val="F57C0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2200" b="1">
                <a:solidFill>
                  <a:srgbClr val="FFFFFF"/>
                </a:solidFill>
              </a:rPr>
              <a:t>存在論
Ontology</a:t>
            </a:r>
          </a:p>
        </p:txBody>
      </p:sp>
      <p:sp>
        <p:nvSpPr>
          <p:cNvPr id="8" name="Rectangle 7"/>
          <p:cNvSpPr/>
          <p:nvPr/>
        </p:nvSpPr>
        <p:spPr>
          <a:xfrm>
            <a:off x="274320" y="2286000"/>
            <a:ext cx="5394960" cy="640080"/>
          </a:xfrm>
          <a:prstGeom prst="rect">
            <a:avLst/>
          </a:prstGeom>
          <a:solidFill>
            <a:srgbClr val="E3F2FD"/>
          </a:solidFill>
          <a:ln w="1270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300" b="0">
                <a:solidFill>
                  <a:srgbClr val="212121"/>
                </a:solidFill>
              </a:rPr>
              <a:t>【問い】 How ＝ どうすれば幸せになれるか</a:t>
            </a:r>
          </a:p>
        </p:txBody>
      </p:sp>
      <p:sp>
        <p:nvSpPr>
          <p:cNvPr id="9" name="Rectangle 8"/>
          <p:cNvSpPr/>
          <p:nvPr/>
        </p:nvSpPr>
        <p:spPr>
          <a:xfrm>
            <a:off x="274320" y="2999232"/>
            <a:ext cx="5394960" cy="640080"/>
          </a:xfrm>
          <a:prstGeom prst="rect">
            <a:avLst/>
          </a:prstGeom>
          <a:solidFill>
            <a:srgbClr val="FFFFFF"/>
          </a:solidFill>
          <a:ln w="1270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300" b="0">
                <a:solidFill>
                  <a:srgbClr val="212121"/>
                </a:solidFill>
              </a:rPr>
              <a:t>【前提】 近代の制度・法・民主主義を自明視</a:t>
            </a:r>
          </a:p>
        </p:txBody>
      </p:sp>
      <p:sp>
        <p:nvSpPr>
          <p:cNvPr id="10" name="Rectangle 9"/>
          <p:cNvSpPr/>
          <p:nvPr/>
        </p:nvSpPr>
        <p:spPr>
          <a:xfrm>
            <a:off x="274320" y="3712464"/>
            <a:ext cx="5394960" cy="640080"/>
          </a:xfrm>
          <a:prstGeom prst="rect">
            <a:avLst/>
          </a:prstGeom>
          <a:solidFill>
            <a:srgbClr val="E3F2FD"/>
          </a:solidFill>
          <a:ln w="1270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300" b="0">
                <a:solidFill>
                  <a:srgbClr val="212121"/>
                </a:solidFill>
              </a:rPr>
              <a:t>【視座】 近代の「内側」 → 近代批判の同時代</a:t>
            </a:r>
          </a:p>
        </p:txBody>
      </p:sp>
      <p:sp>
        <p:nvSpPr>
          <p:cNvPr id="11" name="Rectangle 10"/>
          <p:cNvSpPr/>
          <p:nvPr/>
        </p:nvSpPr>
        <p:spPr>
          <a:xfrm>
            <a:off x="274320" y="4425696"/>
            <a:ext cx="5394960" cy="640080"/>
          </a:xfrm>
          <a:prstGeom prst="rect">
            <a:avLst/>
          </a:prstGeom>
          <a:solidFill>
            <a:srgbClr val="FFFFFF"/>
          </a:solidFill>
          <a:ln w="1270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300" b="0">
                <a:solidFill>
                  <a:srgbClr val="212121"/>
                </a:solidFill>
              </a:rPr>
              <a:t>【限界】 前提に満ち、自明でない前提を受け入れてる</a:t>
            </a:r>
          </a:p>
        </p:txBody>
      </p:sp>
      <p:sp>
        <p:nvSpPr>
          <p:cNvPr id="12" name="Rectangle 11"/>
          <p:cNvSpPr/>
          <p:nvPr/>
        </p:nvSpPr>
        <p:spPr>
          <a:xfrm>
            <a:off x="274320" y="5138928"/>
            <a:ext cx="5394960" cy="640080"/>
          </a:xfrm>
          <a:prstGeom prst="rect">
            <a:avLst/>
          </a:prstGeom>
          <a:solidFill>
            <a:srgbClr val="E3F2FD"/>
          </a:solidFill>
          <a:ln w="1270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300" b="0">
                <a:solidFill>
                  <a:srgbClr val="212121"/>
                </a:solidFill>
              </a:rPr>
              <a:t>【代表】 20世紀後半のアメリカ社会学（頽落）</a:t>
            </a:r>
          </a:p>
        </p:txBody>
      </p:sp>
      <p:sp>
        <p:nvSpPr>
          <p:cNvPr id="13" name="Rectangle 12"/>
          <p:cNvSpPr/>
          <p:nvPr/>
        </p:nvSpPr>
        <p:spPr>
          <a:xfrm>
            <a:off x="6492240" y="2286000"/>
            <a:ext cx="5394960" cy="640080"/>
          </a:xfrm>
          <a:prstGeom prst="rect">
            <a:avLst/>
          </a:prstGeom>
          <a:solidFill>
            <a:srgbClr val="FFF3E0"/>
          </a:solidFill>
          <a:ln w="12700">
            <a:solidFill>
              <a:srgbClr val="F57C0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300" b="0">
                <a:solidFill>
                  <a:srgbClr val="212121"/>
                </a:solidFill>
              </a:rPr>
              <a:t>【問い】 Why ＝ なぜこんな社会を生きているのか</a:t>
            </a:r>
          </a:p>
        </p:txBody>
      </p:sp>
      <p:sp>
        <p:nvSpPr>
          <p:cNvPr id="14" name="Rectangle 13"/>
          <p:cNvSpPr/>
          <p:nvPr/>
        </p:nvSpPr>
        <p:spPr>
          <a:xfrm>
            <a:off x="6492240" y="2999232"/>
            <a:ext cx="5394960" cy="640080"/>
          </a:xfrm>
          <a:prstGeom prst="rect">
            <a:avLst/>
          </a:prstGeom>
          <a:solidFill>
            <a:srgbClr val="FFFFFF"/>
          </a:solidFill>
          <a:ln w="12700">
            <a:solidFill>
              <a:srgbClr val="F57C0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300" b="0">
                <a:solidFill>
                  <a:srgbClr val="212121"/>
                </a:solidFill>
              </a:rPr>
              <a:t>【前提】 人類史的普遍性から近代を相対化</a:t>
            </a:r>
          </a:p>
        </p:txBody>
      </p:sp>
      <p:sp>
        <p:nvSpPr>
          <p:cNvPr id="15" name="Rectangle 14"/>
          <p:cNvSpPr/>
          <p:nvPr/>
        </p:nvSpPr>
        <p:spPr>
          <a:xfrm>
            <a:off x="6492240" y="3712464"/>
            <a:ext cx="5394960" cy="640080"/>
          </a:xfrm>
          <a:prstGeom prst="rect">
            <a:avLst/>
          </a:prstGeom>
          <a:solidFill>
            <a:srgbClr val="FFF3E0"/>
          </a:solidFill>
          <a:ln w="12700">
            <a:solidFill>
              <a:srgbClr val="F57C0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300" b="0">
                <a:solidFill>
                  <a:srgbClr val="212121"/>
                </a:solidFill>
              </a:rPr>
              <a:t>【視座】 近代の「外側」 → 長い人類史から照らす</a:t>
            </a:r>
          </a:p>
        </p:txBody>
      </p:sp>
      <p:sp>
        <p:nvSpPr>
          <p:cNvPr id="16" name="Rectangle 15"/>
          <p:cNvSpPr/>
          <p:nvPr/>
        </p:nvSpPr>
        <p:spPr>
          <a:xfrm>
            <a:off x="6492240" y="4425696"/>
            <a:ext cx="5394960" cy="640080"/>
          </a:xfrm>
          <a:prstGeom prst="rect">
            <a:avLst/>
          </a:prstGeom>
          <a:solidFill>
            <a:srgbClr val="FFFFFF"/>
          </a:solidFill>
          <a:ln w="12700">
            <a:solidFill>
              <a:srgbClr val="F57C0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300" b="0">
                <a:solidFill>
                  <a:srgbClr val="212121"/>
                </a:solidFill>
              </a:rPr>
              <a:t>【強み】 認識で変えられない実在について思考する</a:t>
            </a:r>
          </a:p>
        </p:txBody>
      </p:sp>
      <p:sp>
        <p:nvSpPr>
          <p:cNvPr id="17" name="Rectangle 16"/>
          <p:cNvSpPr/>
          <p:nvPr/>
        </p:nvSpPr>
        <p:spPr>
          <a:xfrm>
            <a:off x="6492240" y="5138928"/>
            <a:ext cx="5394960" cy="640080"/>
          </a:xfrm>
          <a:prstGeom prst="rect">
            <a:avLst/>
          </a:prstGeom>
          <a:solidFill>
            <a:srgbClr val="FFF3E0"/>
          </a:solidFill>
          <a:ln w="12700">
            <a:solidFill>
              <a:srgbClr val="F57C0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300" b="0">
                <a:solidFill>
                  <a:srgbClr val="212121"/>
                </a:solidFill>
              </a:rPr>
              <a:t>【代表】 近代社会学の父・人類学・宮台真司</a:t>
            </a:r>
          </a:p>
        </p:txBody>
      </p:sp>
      <p:sp>
        <p:nvSpPr>
          <p:cNvPr id="18" name="Rectangle 17"/>
          <p:cNvSpPr/>
          <p:nvPr/>
        </p:nvSpPr>
        <p:spPr>
          <a:xfrm>
            <a:off x="5486400" y="3108960"/>
            <a:ext cx="1005840" cy="777240"/>
          </a:xfrm>
          <a:prstGeom prst="rect">
            <a:avLst/>
          </a:prstGeom>
          <a:solidFill>
            <a:srgbClr val="1A237E"/>
          </a:solidFill>
          <a:ln w="19050">
            <a:solidFill>
              <a:srgbClr val="1A237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2600" b="1">
                <a:solidFill>
                  <a:srgbClr val="FFFFFF"/>
                </a:solidFill>
              </a:rPr>
              <a:t>⇔</a:t>
            </a:r>
          </a:p>
        </p:txBody>
      </p:sp>
      <p:sp>
        <p:nvSpPr>
          <p:cNvPr id="19" name="Rectangle 18"/>
          <p:cNvSpPr/>
          <p:nvPr/>
        </p:nvSpPr>
        <p:spPr>
          <a:xfrm>
            <a:off x="274320" y="5943600"/>
            <a:ext cx="11612880" cy="777240"/>
          </a:xfrm>
          <a:prstGeom prst="rect">
            <a:avLst/>
          </a:prstGeom>
          <a:solidFill>
            <a:srgbClr val="FFF3E0"/>
          </a:solidFill>
          <a:ln w="25400">
            <a:solidFill>
              <a:srgbClr val="F57C0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400" b="0">
                <a:solidFill>
                  <a:srgbClr val="212121"/>
                </a:solidFill>
              </a:rPr>
              <a:t>存在論から見ると、認識論は「前提」に満ちている。
主知主義（認識論）は近代内部でのみ自明。主意主義（存在論）はゲノムに紐づけられた安定的な構え。</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731520"/>
          </a:xfrm>
          <a:prstGeom prst="rect">
            <a:avLst/>
          </a:prstGeom>
          <a:noFill/>
        </p:spPr>
        <p:txBody>
          <a:bodyPr wrap="square">
            <a:spAutoFit/>
          </a:bodyPr>
          <a:lstStyle/>
          <a:p>
            <a:pPr algn="l"/>
            <a:r>
              <a:rPr sz="3000" b="1">
                <a:solidFill>
                  <a:srgbClr val="FFFFFF"/>
                </a:solidFill>
              </a:rPr>
              <a:t>共同体の崩壊プロセス</a:t>
            </a:r>
          </a:p>
        </p:txBody>
      </p:sp>
      <p:sp>
        <p:nvSpPr>
          <p:cNvPr id="4" name="TextBox 3"/>
          <p:cNvSpPr txBox="1"/>
          <p:nvPr/>
        </p:nvSpPr>
        <p:spPr>
          <a:xfrm>
            <a:off x="274320" y="749808"/>
            <a:ext cx="11430000" cy="347472"/>
          </a:xfrm>
          <a:prstGeom prst="rect">
            <a:avLst/>
          </a:prstGeom>
          <a:noFill/>
        </p:spPr>
        <p:txBody>
          <a:bodyPr wrap="square">
            <a:spAutoFit/>
          </a:bodyPr>
          <a:lstStyle/>
          <a:p>
            <a:pPr algn="l"/>
            <a:r>
              <a:rPr sz="1400" b="0">
                <a:solidFill>
                  <a:srgbClr val="BBDEFF"/>
                </a:solidFill>
              </a:rPr>
              <a:t>1980年代〜現代日本：新住民化から汎システム化へ</a:t>
            </a:r>
          </a:p>
        </p:txBody>
      </p:sp>
      <p:sp>
        <p:nvSpPr>
          <p:cNvPr id="5" name="Rectangle 4"/>
          <p:cNvSpPr/>
          <p:nvPr/>
        </p:nvSpPr>
        <p:spPr>
          <a:xfrm>
            <a:off x="0" y="1188720"/>
            <a:ext cx="12188952" cy="566928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417320"/>
            <a:ext cx="2194560" cy="914400"/>
          </a:xfrm>
          <a:prstGeom prst="rect">
            <a:avLst/>
          </a:prstGeom>
          <a:solidFill>
            <a:srgbClr val="00695C"/>
          </a:solidFill>
          <a:ln w="19050">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400" b="1">
                <a:solidFill>
                  <a:srgbClr val="FFFFFF"/>
                </a:solidFill>
              </a:rPr>
              <a:t>旧来の共同体
（掟が機能）</a:t>
            </a:r>
          </a:p>
        </p:txBody>
      </p:sp>
      <p:sp>
        <p:nvSpPr>
          <p:cNvPr id="7" name="Rectangle 6"/>
          <p:cNvSpPr/>
          <p:nvPr/>
        </p:nvSpPr>
        <p:spPr>
          <a:xfrm>
            <a:off x="182880" y="2331720"/>
            <a:ext cx="2194560" cy="1600200"/>
          </a:xfrm>
          <a:prstGeom prst="rect">
            <a:avLst/>
          </a:prstGeom>
          <a:solidFill>
            <a:srgbClr val="FFFFFF"/>
          </a:solidFill>
          <a:ln w="19050">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200" b="0">
                <a:solidFill>
                  <a:srgbClr val="212121"/>
                </a:solidFill>
              </a:rPr>
              <a:t>地元ゆかりの住民
贈与・仲間意識</a:t>
            </a:r>
          </a:p>
        </p:txBody>
      </p:sp>
      <p:sp>
        <p:nvSpPr>
          <p:cNvPr id="8" name="TextBox 7"/>
          <p:cNvSpPr txBox="1"/>
          <p:nvPr/>
        </p:nvSpPr>
        <p:spPr>
          <a:xfrm>
            <a:off x="2331720" y="1783080"/>
            <a:ext cx="274320" cy="548640"/>
          </a:xfrm>
          <a:prstGeom prst="rect">
            <a:avLst/>
          </a:prstGeom>
          <a:noFill/>
        </p:spPr>
        <p:txBody>
          <a:bodyPr wrap="square">
            <a:spAutoFit/>
          </a:bodyPr>
          <a:lstStyle/>
          <a:p>
            <a:pPr algn="ctr"/>
            <a:r>
              <a:rPr sz="2400" b="0">
                <a:solidFill>
                  <a:srgbClr val="1A237E"/>
                </a:solidFill>
              </a:rPr>
              <a:t>→</a:t>
            </a:r>
          </a:p>
        </p:txBody>
      </p:sp>
      <p:sp>
        <p:nvSpPr>
          <p:cNvPr id="9" name="Rectangle 8"/>
          <p:cNvSpPr/>
          <p:nvPr/>
        </p:nvSpPr>
        <p:spPr>
          <a:xfrm>
            <a:off x="2560320" y="1417320"/>
            <a:ext cx="2194560" cy="914400"/>
          </a:xfrm>
          <a:prstGeom prst="rect">
            <a:avLst/>
          </a:prstGeom>
          <a:solidFill>
            <a:srgbClr val="F57C00"/>
          </a:solidFill>
          <a:ln w="19050">
            <a:solidFill>
              <a:srgbClr val="F57C0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400" b="1">
                <a:solidFill>
                  <a:srgbClr val="FFFFFF"/>
                </a:solidFill>
              </a:rPr>
              <a:t>80年代
新住民化</a:t>
            </a:r>
          </a:p>
        </p:txBody>
      </p:sp>
      <p:sp>
        <p:nvSpPr>
          <p:cNvPr id="10" name="Rectangle 9"/>
          <p:cNvSpPr/>
          <p:nvPr/>
        </p:nvSpPr>
        <p:spPr>
          <a:xfrm>
            <a:off x="2560320" y="2331720"/>
            <a:ext cx="2194560" cy="1600200"/>
          </a:xfrm>
          <a:prstGeom prst="rect">
            <a:avLst/>
          </a:prstGeom>
          <a:solidFill>
            <a:srgbClr val="FFFFFF"/>
          </a:solidFill>
          <a:ln w="19050">
            <a:solidFill>
              <a:srgbClr val="F57C0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200" b="0">
                <a:solidFill>
                  <a:srgbClr val="212121"/>
                </a:solidFill>
              </a:rPr>
              <a:t>土地にゆかりなき者
が多数派化</a:t>
            </a:r>
          </a:p>
        </p:txBody>
      </p:sp>
      <p:sp>
        <p:nvSpPr>
          <p:cNvPr id="11" name="TextBox 10"/>
          <p:cNvSpPr txBox="1"/>
          <p:nvPr/>
        </p:nvSpPr>
        <p:spPr>
          <a:xfrm>
            <a:off x="4709160" y="1783080"/>
            <a:ext cx="274320" cy="548640"/>
          </a:xfrm>
          <a:prstGeom prst="rect">
            <a:avLst/>
          </a:prstGeom>
          <a:noFill/>
        </p:spPr>
        <p:txBody>
          <a:bodyPr wrap="square">
            <a:spAutoFit/>
          </a:bodyPr>
          <a:lstStyle/>
          <a:p>
            <a:pPr algn="ctr"/>
            <a:r>
              <a:rPr sz="2400" b="0">
                <a:solidFill>
                  <a:srgbClr val="1A237E"/>
                </a:solidFill>
              </a:rPr>
              <a:t>→</a:t>
            </a:r>
          </a:p>
        </p:txBody>
      </p:sp>
      <p:sp>
        <p:nvSpPr>
          <p:cNvPr id="12" name="Rectangle 11"/>
          <p:cNvSpPr/>
          <p:nvPr/>
        </p:nvSpPr>
        <p:spPr>
          <a:xfrm>
            <a:off x="4937760" y="1417320"/>
            <a:ext cx="2194560" cy="914400"/>
          </a:xfrm>
          <a:prstGeom prst="rect">
            <a:avLst/>
          </a:prstGeom>
          <a:solidFill>
            <a:srgbClr val="C62828"/>
          </a:solidFill>
          <a:ln w="1905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400" b="1">
                <a:solidFill>
                  <a:srgbClr val="FFFFFF"/>
                </a:solidFill>
              </a:rPr>
              <a:t>掟→法
（法化）</a:t>
            </a:r>
          </a:p>
        </p:txBody>
      </p:sp>
      <p:sp>
        <p:nvSpPr>
          <p:cNvPr id="13" name="Rectangle 12"/>
          <p:cNvSpPr/>
          <p:nvPr/>
        </p:nvSpPr>
        <p:spPr>
          <a:xfrm>
            <a:off x="4937760" y="2331720"/>
            <a:ext cx="2194560" cy="1600200"/>
          </a:xfrm>
          <a:prstGeom prst="rect">
            <a:avLst/>
          </a:prstGeom>
          <a:solidFill>
            <a:srgbClr val="FFFFFF"/>
          </a:solidFill>
          <a:ln w="1905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200" b="0">
                <a:solidFill>
                  <a:srgbClr val="212121"/>
                </a:solidFill>
              </a:rPr>
              <a:t>花火・焚火禁止
地元商店→FC化
校庭・屋上閉鎖</a:t>
            </a:r>
          </a:p>
        </p:txBody>
      </p:sp>
      <p:sp>
        <p:nvSpPr>
          <p:cNvPr id="14" name="TextBox 13"/>
          <p:cNvSpPr txBox="1"/>
          <p:nvPr/>
        </p:nvSpPr>
        <p:spPr>
          <a:xfrm>
            <a:off x="7086600" y="1783080"/>
            <a:ext cx="274320" cy="548640"/>
          </a:xfrm>
          <a:prstGeom prst="rect">
            <a:avLst/>
          </a:prstGeom>
          <a:noFill/>
        </p:spPr>
        <p:txBody>
          <a:bodyPr wrap="square">
            <a:spAutoFit/>
          </a:bodyPr>
          <a:lstStyle/>
          <a:p>
            <a:pPr algn="ctr"/>
            <a:r>
              <a:rPr sz="2400" b="0">
                <a:solidFill>
                  <a:srgbClr val="1A237E"/>
                </a:solidFill>
              </a:rPr>
              <a:t>→</a:t>
            </a:r>
          </a:p>
        </p:txBody>
      </p:sp>
      <p:sp>
        <p:nvSpPr>
          <p:cNvPr id="15" name="Rectangle 14"/>
          <p:cNvSpPr/>
          <p:nvPr/>
        </p:nvSpPr>
        <p:spPr>
          <a:xfrm>
            <a:off x="7315200" y="1417320"/>
            <a:ext cx="2194560" cy="914400"/>
          </a:xfrm>
          <a:prstGeom prst="rect">
            <a:avLst/>
          </a:prstGeom>
          <a:solidFill>
            <a:srgbClr val="4A148C"/>
          </a:solidFill>
          <a:ln w="19050">
            <a:solidFill>
              <a:srgbClr val="4A14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400" b="1">
                <a:solidFill>
                  <a:srgbClr val="FFFFFF"/>
                </a:solidFill>
              </a:rPr>
              <a:t>システム化</a:t>
            </a:r>
          </a:p>
        </p:txBody>
      </p:sp>
      <p:sp>
        <p:nvSpPr>
          <p:cNvPr id="16" name="Rectangle 15"/>
          <p:cNvSpPr/>
          <p:nvPr/>
        </p:nvSpPr>
        <p:spPr>
          <a:xfrm>
            <a:off x="7315200" y="2331720"/>
            <a:ext cx="2194560" cy="1600200"/>
          </a:xfrm>
          <a:prstGeom prst="rect">
            <a:avLst/>
          </a:prstGeom>
          <a:solidFill>
            <a:srgbClr val="FFFFFF"/>
          </a:solidFill>
          <a:ln w="19050">
            <a:solidFill>
              <a:srgbClr val="4A14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200" b="0">
                <a:solidFill>
                  <a:srgbClr val="212121"/>
                </a:solidFill>
              </a:rPr>
              <a:t>人間関係→
市場・行政から
便益を得る</a:t>
            </a:r>
          </a:p>
        </p:txBody>
      </p:sp>
      <p:sp>
        <p:nvSpPr>
          <p:cNvPr id="17" name="TextBox 16"/>
          <p:cNvSpPr txBox="1"/>
          <p:nvPr/>
        </p:nvSpPr>
        <p:spPr>
          <a:xfrm>
            <a:off x="9464040" y="1783080"/>
            <a:ext cx="274320" cy="548640"/>
          </a:xfrm>
          <a:prstGeom prst="rect">
            <a:avLst/>
          </a:prstGeom>
          <a:noFill/>
        </p:spPr>
        <p:txBody>
          <a:bodyPr wrap="square">
            <a:spAutoFit/>
          </a:bodyPr>
          <a:lstStyle/>
          <a:p>
            <a:pPr algn="ctr"/>
            <a:r>
              <a:rPr sz="2400" b="0">
                <a:solidFill>
                  <a:srgbClr val="1A237E"/>
                </a:solidFill>
              </a:rPr>
              <a:t>→</a:t>
            </a:r>
          </a:p>
        </p:txBody>
      </p:sp>
      <p:sp>
        <p:nvSpPr>
          <p:cNvPr id="18" name="Rectangle 17"/>
          <p:cNvSpPr/>
          <p:nvPr/>
        </p:nvSpPr>
        <p:spPr>
          <a:xfrm>
            <a:off x="9692640" y="1417320"/>
            <a:ext cx="2194560" cy="914400"/>
          </a:xfrm>
          <a:prstGeom prst="rect">
            <a:avLst/>
          </a:prstGeom>
          <a:solidFill>
            <a:srgbClr val="1A237E"/>
          </a:solidFill>
          <a:ln w="19050">
            <a:solidFill>
              <a:srgbClr val="1A237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400" b="1">
                <a:solidFill>
                  <a:srgbClr val="FFFFFF"/>
                </a:solidFill>
              </a:rPr>
              <a:t>汎システム化
人格の消滅</a:t>
            </a:r>
          </a:p>
        </p:txBody>
      </p:sp>
      <p:sp>
        <p:nvSpPr>
          <p:cNvPr id="19" name="Rectangle 18"/>
          <p:cNvSpPr/>
          <p:nvPr/>
        </p:nvSpPr>
        <p:spPr>
          <a:xfrm>
            <a:off x="9692640" y="2331720"/>
            <a:ext cx="2194560" cy="1600200"/>
          </a:xfrm>
          <a:prstGeom prst="rect">
            <a:avLst/>
          </a:prstGeom>
          <a:solidFill>
            <a:srgbClr val="FFFFFF"/>
          </a:solidFill>
          <a:ln w="19050">
            <a:solidFill>
              <a:srgbClr val="1A237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200" b="0">
                <a:solidFill>
                  <a:srgbClr val="212121"/>
                </a:solidFill>
              </a:rPr>
              <a:t>「人格」消え
置換可能な
「汎人格」へ</a:t>
            </a:r>
          </a:p>
        </p:txBody>
      </p:sp>
      <p:sp>
        <p:nvSpPr>
          <p:cNvPr id="20" name="TextBox 19"/>
          <p:cNvSpPr txBox="1"/>
          <p:nvPr/>
        </p:nvSpPr>
        <p:spPr>
          <a:xfrm>
            <a:off x="182880" y="4069080"/>
            <a:ext cx="4572000" cy="365760"/>
          </a:xfrm>
          <a:prstGeom prst="rect">
            <a:avLst/>
          </a:prstGeom>
          <a:noFill/>
        </p:spPr>
        <p:txBody>
          <a:bodyPr wrap="square">
            <a:spAutoFit/>
          </a:bodyPr>
          <a:lstStyle/>
          <a:p>
            <a:pPr algn="l"/>
            <a:r>
              <a:rPr sz="1300" b="1">
                <a:solidFill>
                  <a:srgbClr val="1A237E"/>
                </a:solidFill>
              </a:rPr>
              <a:t>↓ 結果として生じる変化</a:t>
            </a:r>
          </a:p>
        </p:txBody>
      </p:sp>
      <p:sp>
        <p:nvSpPr>
          <p:cNvPr id="21" name="Rectangle 20"/>
          <p:cNvSpPr/>
          <p:nvPr/>
        </p:nvSpPr>
        <p:spPr>
          <a:xfrm>
            <a:off x="182880" y="4434840"/>
            <a:ext cx="2194560" cy="1051560"/>
          </a:xfrm>
          <a:prstGeom prst="rect">
            <a:avLst/>
          </a:prstGeom>
          <a:solidFill>
            <a:srgbClr val="E0F2F1"/>
          </a:solidFill>
          <a:ln w="19050">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200" b="0">
                <a:solidFill>
                  <a:srgbClr val="212121"/>
                </a:solidFill>
              </a:rPr>
              <a:t>友達→知人化
恋人→告白イベント化</a:t>
            </a:r>
          </a:p>
        </p:txBody>
      </p:sp>
      <p:sp>
        <p:nvSpPr>
          <p:cNvPr id="22" name="Rectangle 21"/>
          <p:cNvSpPr/>
          <p:nvPr/>
        </p:nvSpPr>
        <p:spPr>
          <a:xfrm>
            <a:off x="2560320" y="4434840"/>
            <a:ext cx="2194560" cy="1051560"/>
          </a:xfrm>
          <a:prstGeom prst="rect">
            <a:avLst/>
          </a:prstGeom>
          <a:solidFill>
            <a:srgbClr val="FFF3E0"/>
          </a:solidFill>
          <a:ln w="19050">
            <a:solidFill>
              <a:srgbClr val="F57C0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200" b="0">
                <a:solidFill>
                  <a:srgbClr val="212121"/>
                </a:solidFill>
              </a:rPr>
              <a:t>感情能力・同感能力
の劣化</a:t>
            </a:r>
          </a:p>
        </p:txBody>
      </p:sp>
      <p:sp>
        <p:nvSpPr>
          <p:cNvPr id="23" name="Rectangle 22"/>
          <p:cNvSpPr/>
          <p:nvPr/>
        </p:nvSpPr>
        <p:spPr>
          <a:xfrm>
            <a:off x="4937760" y="4434840"/>
            <a:ext cx="2194560" cy="1051560"/>
          </a:xfrm>
          <a:prstGeom prst="rect">
            <a:avLst/>
          </a:prstGeom>
          <a:solidFill>
            <a:srgbClr val="FFEBEE"/>
          </a:solidFill>
          <a:ln w="1905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200" b="0">
                <a:solidFill>
                  <a:srgbClr val="212121"/>
                </a:solidFill>
              </a:rPr>
              <a:t>性愛の自己関与化
（他者没入→自己確認）</a:t>
            </a:r>
          </a:p>
        </p:txBody>
      </p:sp>
      <p:sp>
        <p:nvSpPr>
          <p:cNvPr id="24" name="Rectangle 23"/>
          <p:cNvSpPr/>
          <p:nvPr/>
        </p:nvSpPr>
        <p:spPr>
          <a:xfrm>
            <a:off x="7315200" y="4434840"/>
            <a:ext cx="2194560" cy="1051560"/>
          </a:xfrm>
          <a:prstGeom prst="rect">
            <a:avLst/>
          </a:prstGeom>
          <a:solidFill>
            <a:srgbClr val="F3E5F5"/>
          </a:solidFill>
          <a:ln w="19050">
            <a:solidFill>
              <a:srgbClr val="4A14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200" b="0">
                <a:solidFill>
                  <a:srgbClr val="212121"/>
                </a:solidFill>
              </a:rPr>
              <a:t>「外」（アジール）を
求める動き</a:t>
            </a:r>
          </a:p>
        </p:txBody>
      </p:sp>
      <p:sp>
        <p:nvSpPr>
          <p:cNvPr id="25" name="Rectangle 24"/>
          <p:cNvSpPr/>
          <p:nvPr/>
        </p:nvSpPr>
        <p:spPr>
          <a:xfrm>
            <a:off x="9692640" y="4434840"/>
            <a:ext cx="2194560" cy="1051560"/>
          </a:xfrm>
          <a:prstGeom prst="rect">
            <a:avLst/>
          </a:prstGeom>
          <a:solidFill>
            <a:srgbClr val="E3F2FD"/>
          </a:solidFill>
          <a:ln w="19050">
            <a:solidFill>
              <a:srgbClr val="1A237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200" b="0">
                <a:solidFill>
                  <a:srgbClr val="212121"/>
                </a:solidFill>
              </a:rPr>
              <a:t>民主政の
機能不全へ</a:t>
            </a:r>
          </a:p>
        </p:txBody>
      </p:sp>
      <p:sp>
        <p:nvSpPr>
          <p:cNvPr id="26" name="Rectangle 25"/>
          <p:cNvSpPr/>
          <p:nvPr/>
        </p:nvSpPr>
        <p:spPr>
          <a:xfrm>
            <a:off x="182880" y="5669280"/>
            <a:ext cx="11795760" cy="777240"/>
          </a:xfrm>
          <a:prstGeom prst="rect">
            <a:avLst/>
          </a:prstGeom>
          <a:solidFill>
            <a:srgbClr val="E8EAF6"/>
          </a:solidFill>
          <a:ln w="19050">
            <a:solidFill>
              <a:srgbClr val="1A237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300" b="0">
                <a:solidFill>
                  <a:srgbClr val="1A237E"/>
                </a:solidFill>
              </a:rPr>
              <a:t>法社会学：「法化 legalization」＝掟から法へ。ヴェーバー「内は掟、外は法」の境界が消え、生活世界がシステム世界に飲み込まれる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731520"/>
          </a:xfrm>
          <a:prstGeom prst="rect">
            <a:avLst/>
          </a:prstGeom>
          <a:noFill/>
        </p:spPr>
        <p:txBody>
          <a:bodyPr wrap="square">
            <a:spAutoFit/>
          </a:bodyPr>
          <a:lstStyle/>
          <a:p>
            <a:pPr algn="l"/>
            <a:r>
              <a:rPr sz="3000" b="1">
                <a:solidFill>
                  <a:srgbClr val="FFFFFF"/>
                </a:solidFill>
              </a:rPr>
              <a:t>アメリカ社会学の失敗と民主政の危機</a:t>
            </a:r>
          </a:p>
        </p:txBody>
      </p:sp>
      <p:sp>
        <p:nvSpPr>
          <p:cNvPr id="4" name="TextBox 3"/>
          <p:cNvSpPr txBox="1"/>
          <p:nvPr/>
        </p:nvSpPr>
        <p:spPr>
          <a:xfrm>
            <a:off x="274320" y="749808"/>
            <a:ext cx="11430000" cy="347472"/>
          </a:xfrm>
          <a:prstGeom prst="rect">
            <a:avLst/>
          </a:prstGeom>
          <a:noFill/>
        </p:spPr>
        <p:txBody>
          <a:bodyPr wrap="square">
            <a:spAutoFit/>
          </a:bodyPr>
          <a:lstStyle/>
          <a:p>
            <a:pPr algn="l"/>
            <a:r>
              <a:rPr sz="1400" b="0">
                <a:solidFill>
                  <a:srgbClr val="BBDEFF"/>
                </a:solidFill>
              </a:rPr>
              <a:t>「民主政の民主政以前的前提」を忘れた代償</a:t>
            </a:r>
          </a:p>
        </p:txBody>
      </p:sp>
      <p:sp>
        <p:nvSpPr>
          <p:cNvPr id="5" name="Rectangle 4"/>
          <p:cNvSpPr/>
          <p:nvPr/>
        </p:nvSpPr>
        <p:spPr>
          <a:xfrm>
            <a:off x="0" y="1188720"/>
            <a:ext cx="12188952" cy="566928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234440"/>
            <a:ext cx="11612880" cy="411480"/>
          </a:xfrm>
          <a:prstGeom prst="rect">
            <a:avLst/>
          </a:prstGeom>
          <a:noFill/>
        </p:spPr>
        <p:txBody>
          <a:bodyPr wrap="square">
            <a:spAutoFit/>
          </a:bodyPr>
          <a:lstStyle/>
          <a:p>
            <a:pPr algn="l"/>
            <a:r>
              <a:rPr sz="1500" b="1">
                <a:solidFill>
                  <a:srgbClr val="1A237E"/>
                </a:solidFill>
              </a:rPr>
              <a:t>民主政が機能するための前提条件（土台から積み上げ）</a:t>
            </a:r>
          </a:p>
        </p:txBody>
      </p:sp>
      <p:sp>
        <p:nvSpPr>
          <p:cNvPr id="7" name="Rectangle 6"/>
          <p:cNvSpPr/>
          <p:nvPr/>
        </p:nvSpPr>
        <p:spPr>
          <a:xfrm>
            <a:off x="1188720" y="5212080"/>
            <a:ext cx="8503920" cy="713232"/>
          </a:xfrm>
          <a:prstGeom prst="rect">
            <a:avLst/>
          </a:prstGeom>
          <a:solidFill>
            <a:srgbClr val="E8F5E9"/>
          </a:solidFill>
          <a:ln w="254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500" b="0">
                <a:solidFill>
                  <a:srgbClr val="212121"/>
                </a:solidFill>
              </a:rPr>
              <a:t>▲ ① 製造業の労働需要：人々が職を持ち収入を得る基盤</a:t>
            </a:r>
          </a:p>
        </p:txBody>
      </p:sp>
      <p:sp>
        <p:nvSpPr>
          <p:cNvPr id="8" name="Rectangle 7"/>
          <p:cNvSpPr/>
          <p:nvPr/>
        </p:nvSpPr>
        <p:spPr>
          <a:xfrm>
            <a:off x="1188720" y="4389120"/>
            <a:ext cx="8503920" cy="713232"/>
          </a:xfrm>
          <a:prstGeom prst="rect">
            <a:avLst/>
          </a:prstGeom>
          <a:solidFill>
            <a:srgbClr val="E0F2F1"/>
          </a:solidFill>
          <a:ln w="25400">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500" b="0">
                <a:solidFill>
                  <a:srgbClr val="212121"/>
                </a:solidFill>
              </a:rPr>
              <a:t>▲ ② 中流化：安定した中産階級の形成</a:t>
            </a:r>
          </a:p>
        </p:txBody>
      </p:sp>
      <p:sp>
        <p:nvSpPr>
          <p:cNvPr id="9" name="Rectangle 8"/>
          <p:cNvSpPr/>
          <p:nvPr/>
        </p:nvSpPr>
        <p:spPr>
          <a:xfrm>
            <a:off x="1188720" y="3566160"/>
            <a:ext cx="8503920" cy="713232"/>
          </a:xfrm>
          <a:prstGeom prst="rect">
            <a:avLst/>
          </a:prstGeom>
          <a:solidFill>
            <a:srgbClr val="E3F2FD"/>
          </a:solidFill>
          <a:ln w="2540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500" b="0">
                <a:solidFill>
                  <a:srgbClr val="212121"/>
                </a:solidFill>
              </a:rPr>
              <a:t>▲ ③ ソーシャルキャピタル：地縁・人間関係の豊かさ（対人ネットワーク）</a:t>
            </a:r>
          </a:p>
        </p:txBody>
      </p:sp>
      <p:sp>
        <p:nvSpPr>
          <p:cNvPr id="10" name="Rectangle 9"/>
          <p:cNvSpPr/>
          <p:nvPr/>
        </p:nvSpPr>
        <p:spPr>
          <a:xfrm>
            <a:off x="1188720" y="2743200"/>
            <a:ext cx="8503920" cy="713232"/>
          </a:xfrm>
          <a:prstGeom prst="rect">
            <a:avLst/>
          </a:prstGeom>
          <a:solidFill>
            <a:srgbClr val="F3E5F5"/>
          </a:solidFill>
          <a:ln w="25400">
            <a:solidFill>
              <a:srgbClr val="4A14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500" b="0">
                <a:solidFill>
                  <a:srgbClr val="212121"/>
                </a:solidFill>
              </a:rPr>
              <a:t>▲ ④ オピニオンリーダー機能：メディアプロパガンダへの抵抗・フィルタリング</a:t>
            </a:r>
          </a:p>
        </p:txBody>
      </p:sp>
      <p:sp>
        <p:nvSpPr>
          <p:cNvPr id="11" name="Rectangle 10"/>
          <p:cNvSpPr/>
          <p:nvPr/>
        </p:nvSpPr>
        <p:spPr>
          <a:xfrm>
            <a:off x="1188720" y="1920240"/>
            <a:ext cx="8503920" cy="713232"/>
          </a:xfrm>
          <a:prstGeom prst="rect">
            <a:avLst/>
          </a:prstGeom>
          <a:solidFill>
            <a:srgbClr val="E3F2FD"/>
          </a:solidFill>
          <a:ln w="25400">
            <a:solidFill>
              <a:srgbClr val="1A237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500" b="0">
                <a:solidFill>
                  <a:srgbClr val="212121"/>
                </a:solidFill>
              </a:rPr>
              <a:t>▲ ⑤ 民主政の正常機能：理性的な投票・議論・合意形成</a:t>
            </a:r>
          </a:p>
        </p:txBody>
      </p:sp>
      <p:sp>
        <p:nvSpPr>
          <p:cNvPr id="12" name="Rectangle 11"/>
          <p:cNvSpPr/>
          <p:nvPr/>
        </p:nvSpPr>
        <p:spPr>
          <a:xfrm>
            <a:off x="9875520" y="1691640"/>
            <a:ext cx="2103120" cy="4114800"/>
          </a:xfrm>
          <a:prstGeom prst="rect">
            <a:avLst/>
          </a:prstGeom>
          <a:solidFill>
            <a:srgbClr val="FFEBEE"/>
          </a:solidFill>
          <a:ln w="1905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100" b="0">
                <a:solidFill>
                  <a:srgbClr val="C62828"/>
                </a:solidFill>
              </a:rPr>
              <a:t>製造業空洞化
知財化
→中流崩壊
→ソーシャル
キャピタル喪失
→プロパガンダ
直撃
→独裁者登場</a:t>
            </a:r>
          </a:p>
        </p:txBody>
      </p:sp>
      <p:sp>
        <p:nvSpPr>
          <p:cNvPr id="13" name="Rectangle 12"/>
          <p:cNvSpPr/>
          <p:nvPr/>
        </p:nvSpPr>
        <p:spPr>
          <a:xfrm>
            <a:off x="274320" y="5943600"/>
            <a:ext cx="11612880" cy="804672"/>
          </a:xfrm>
          <a:prstGeom prst="rect">
            <a:avLst/>
          </a:prstGeom>
          <a:solidFill>
            <a:srgbClr val="FFEBEE"/>
          </a:solidFill>
          <a:ln w="254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300" b="1">
                <a:solidFill>
                  <a:srgbClr val="C62828"/>
                </a:solidFill>
              </a:rPr>
              <a:t>ローティの的中予言（90年代）：「トランプ的独裁大統領の登場」「リベラルへのバックラッシュ」
アメリカ社会学は「民主政の民主政以前的前提」への感度を失い、民主政を確固たる足場と誤解した</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731520"/>
          </a:xfrm>
          <a:prstGeom prst="rect">
            <a:avLst/>
          </a:prstGeom>
          <a:noFill/>
        </p:spPr>
        <p:txBody>
          <a:bodyPr wrap="square">
            <a:spAutoFit/>
          </a:bodyPr>
          <a:lstStyle/>
          <a:p>
            <a:pPr algn="l"/>
            <a:r>
              <a:rPr sz="3000" b="1">
                <a:solidFill>
                  <a:srgbClr val="FFFFFF"/>
                </a:solidFill>
              </a:rPr>
              <a:t>原的贈与の忘却</a:t>
            </a:r>
          </a:p>
        </p:txBody>
      </p:sp>
      <p:sp>
        <p:nvSpPr>
          <p:cNvPr id="4" name="TextBox 3"/>
          <p:cNvSpPr txBox="1"/>
          <p:nvPr/>
        </p:nvSpPr>
        <p:spPr>
          <a:xfrm>
            <a:off x="274320" y="749808"/>
            <a:ext cx="11430000" cy="347472"/>
          </a:xfrm>
          <a:prstGeom prst="rect">
            <a:avLst/>
          </a:prstGeom>
          <a:noFill/>
        </p:spPr>
        <p:txBody>
          <a:bodyPr wrap="square">
            <a:spAutoFit/>
          </a:bodyPr>
          <a:lstStyle/>
          <a:p>
            <a:pPr algn="l"/>
            <a:r>
              <a:rPr sz="1400" b="0">
                <a:solidFill>
                  <a:srgbClr val="BBDEFF"/>
                </a:solidFill>
              </a:rPr>
              <a:t>ケネーのフィジオクラシー × 現代の危機</a:t>
            </a:r>
          </a:p>
        </p:txBody>
      </p:sp>
      <p:sp>
        <p:nvSpPr>
          <p:cNvPr id="5" name="Rectangle 4"/>
          <p:cNvSpPr/>
          <p:nvPr/>
        </p:nvSpPr>
        <p:spPr>
          <a:xfrm>
            <a:off x="0" y="1188720"/>
            <a:ext cx="12188952" cy="566928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931920" y="1371600"/>
            <a:ext cx="4297680" cy="868680"/>
          </a:xfrm>
          <a:prstGeom prst="rect">
            <a:avLst/>
          </a:prstGeom>
          <a:solidFill>
            <a:srgbClr val="E8F5E9"/>
          </a:solidFill>
          <a:ln w="254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500" b="1">
                <a:solidFill>
                  <a:srgbClr val="212121"/>
                </a:solidFill>
              </a:rPr>
              <a:t>原生自然（physis）
万物の根源・贈与の源泉</a:t>
            </a:r>
          </a:p>
        </p:txBody>
      </p:sp>
      <p:sp>
        <p:nvSpPr>
          <p:cNvPr id="7" name="TextBox 6"/>
          <p:cNvSpPr txBox="1"/>
          <p:nvPr/>
        </p:nvSpPr>
        <p:spPr>
          <a:xfrm>
            <a:off x="5303520" y="2240280"/>
            <a:ext cx="2011680" cy="365760"/>
          </a:xfrm>
          <a:prstGeom prst="rect">
            <a:avLst/>
          </a:prstGeom>
          <a:noFill/>
        </p:spPr>
        <p:txBody>
          <a:bodyPr wrap="square">
            <a:spAutoFit/>
          </a:bodyPr>
          <a:lstStyle/>
          <a:p>
            <a:pPr algn="l"/>
            <a:r>
              <a:rPr sz="1300" b="1">
                <a:solidFill>
                  <a:srgbClr val="2E7D32"/>
                </a:solidFill>
              </a:rPr>
              <a:t>↓ 贈与（対価なし）</a:t>
            </a:r>
          </a:p>
        </p:txBody>
      </p:sp>
      <p:sp>
        <p:nvSpPr>
          <p:cNvPr id="8" name="Rectangle 7"/>
          <p:cNvSpPr/>
          <p:nvPr/>
        </p:nvSpPr>
        <p:spPr>
          <a:xfrm>
            <a:off x="3931920" y="2606040"/>
            <a:ext cx="4297680" cy="804672"/>
          </a:xfrm>
          <a:prstGeom prst="rect">
            <a:avLst/>
          </a:prstGeom>
          <a:solidFill>
            <a:srgbClr val="E0F2F1"/>
          </a:solidFill>
          <a:ln w="25400">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400" b="0">
                <a:solidFill>
                  <a:srgbClr val="212121"/>
                </a:solidFill>
              </a:rPr>
              <a:t>農業・加工・労働の連鎖
（原生自然の恵みを活用）</a:t>
            </a:r>
          </a:p>
        </p:txBody>
      </p:sp>
      <p:sp>
        <p:nvSpPr>
          <p:cNvPr id="9" name="TextBox 8"/>
          <p:cNvSpPr txBox="1"/>
          <p:nvPr/>
        </p:nvSpPr>
        <p:spPr>
          <a:xfrm>
            <a:off x="5303520" y="3410712"/>
            <a:ext cx="2011680" cy="365760"/>
          </a:xfrm>
          <a:prstGeom prst="rect">
            <a:avLst/>
          </a:prstGeom>
          <a:noFill/>
        </p:spPr>
        <p:txBody>
          <a:bodyPr wrap="square">
            <a:spAutoFit/>
          </a:bodyPr>
          <a:lstStyle/>
          <a:p>
            <a:pPr algn="l"/>
            <a:r>
              <a:rPr sz="1300" b="0">
                <a:solidFill>
                  <a:srgbClr val="00695C"/>
                </a:solidFill>
              </a:rPr>
              <a:t>↓ 加工・貨幣の連鎖</a:t>
            </a:r>
          </a:p>
        </p:txBody>
      </p:sp>
      <p:sp>
        <p:nvSpPr>
          <p:cNvPr id="10" name="Rectangle 9"/>
          <p:cNvSpPr/>
          <p:nvPr/>
        </p:nvSpPr>
        <p:spPr>
          <a:xfrm>
            <a:off x="3931920" y="3776472"/>
            <a:ext cx="4297680" cy="804672"/>
          </a:xfrm>
          <a:prstGeom prst="rect">
            <a:avLst/>
          </a:prstGeom>
          <a:solidFill>
            <a:srgbClr val="FFF3E0"/>
          </a:solidFill>
          <a:ln w="25400">
            <a:solidFill>
              <a:srgbClr val="F57C0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400" b="0">
                <a:solidFill>
                  <a:srgbClr val="212121"/>
                </a:solidFill>
              </a:rPr>
              <a:t>製品・サービス・市場
（貨幣による交換）</a:t>
            </a:r>
          </a:p>
        </p:txBody>
      </p:sp>
      <p:sp>
        <p:nvSpPr>
          <p:cNvPr id="11" name="Rectangle 10"/>
          <p:cNvSpPr/>
          <p:nvPr/>
        </p:nvSpPr>
        <p:spPr>
          <a:xfrm>
            <a:off x="274320" y="1645920"/>
            <a:ext cx="3200400" cy="2743200"/>
          </a:xfrm>
          <a:prstGeom prst="rect">
            <a:avLst/>
          </a:prstGeom>
          <a:solidFill>
            <a:srgbClr val="FFEBEE"/>
          </a:solidFill>
          <a:ln w="254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400" b="1">
                <a:solidFill>
                  <a:srgbClr val="C62828"/>
                </a:solidFill>
              </a:rPr>
              <a:t>問題
原生自然への
対価が払われない
↓
贈与の忘却
通常化</a:t>
            </a:r>
          </a:p>
        </p:txBody>
      </p:sp>
      <p:sp>
        <p:nvSpPr>
          <p:cNvPr id="12" name="Rectangle 11"/>
          <p:cNvSpPr/>
          <p:nvPr/>
        </p:nvSpPr>
        <p:spPr>
          <a:xfrm>
            <a:off x="8503920" y="1645920"/>
            <a:ext cx="3383280" cy="3017520"/>
          </a:xfrm>
          <a:prstGeom prst="rect">
            <a:avLst/>
          </a:prstGeom>
          <a:solidFill>
            <a:srgbClr val="FFEBEE"/>
          </a:solidFill>
          <a:ln w="254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300" b="0">
                <a:solidFill>
                  <a:srgbClr val="212121"/>
                </a:solidFill>
              </a:rPr>
              <a:t>結果
① 気候危機
   自然への影響が不可視
② 感情劣化
   力の喪失
③ 社会の崩壊</a:t>
            </a:r>
          </a:p>
        </p:txBody>
      </p:sp>
      <p:sp>
        <p:nvSpPr>
          <p:cNvPr id="13" name="TextBox 12"/>
          <p:cNvSpPr txBox="1"/>
          <p:nvPr/>
        </p:nvSpPr>
        <p:spPr>
          <a:xfrm>
            <a:off x="3474720" y="2651760"/>
            <a:ext cx="457200" cy="457200"/>
          </a:xfrm>
          <a:prstGeom prst="rect">
            <a:avLst/>
          </a:prstGeom>
          <a:noFill/>
        </p:spPr>
        <p:txBody>
          <a:bodyPr wrap="square">
            <a:spAutoFit/>
          </a:bodyPr>
          <a:lstStyle/>
          <a:p>
            <a:pPr algn="l"/>
            <a:r>
              <a:rPr sz="2200" b="0">
                <a:solidFill>
                  <a:srgbClr val="C62828"/>
                </a:solidFill>
              </a:rPr>
              <a:t>→</a:t>
            </a:r>
          </a:p>
        </p:txBody>
      </p:sp>
      <p:sp>
        <p:nvSpPr>
          <p:cNvPr id="14" name="TextBox 13"/>
          <p:cNvSpPr txBox="1"/>
          <p:nvPr/>
        </p:nvSpPr>
        <p:spPr>
          <a:xfrm>
            <a:off x="8229600" y="2651760"/>
            <a:ext cx="457200" cy="457200"/>
          </a:xfrm>
          <a:prstGeom prst="rect">
            <a:avLst/>
          </a:prstGeom>
          <a:noFill/>
        </p:spPr>
        <p:txBody>
          <a:bodyPr wrap="square">
            <a:spAutoFit/>
          </a:bodyPr>
          <a:lstStyle/>
          <a:p>
            <a:pPr algn="l"/>
            <a:r>
              <a:rPr sz="2200" b="0">
                <a:solidFill>
                  <a:srgbClr val="C62828"/>
                </a:solidFill>
              </a:rPr>
              <a:t>←</a:t>
            </a:r>
          </a:p>
        </p:txBody>
      </p:sp>
      <p:sp>
        <p:nvSpPr>
          <p:cNvPr id="15" name="Rectangle 14"/>
          <p:cNvSpPr/>
          <p:nvPr/>
        </p:nvSpPr>
        <p:spPr>
          <a:xfrm>
            <a:off x="274320" y="5120640"/>
            <a:ext cx="11612880" cy="1143000"/>
          </a:xfrm>
          <a:prstGeom prst="rect">
            <a:avLst/>
          </a:prstGeom>
          <a:solidFill>
            <a:srgbClr val="E8F5E9"/>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300" b="0">
                <a:solidFill>
                  <a:srgbClr val="212121"/>
                </a:solidFill>
              </a:rPr>
              <a:t>ケネー：経済を血液循環のように見た。農業こそ富の源泉（重農主義）。「原的贈与を知る時、人に力が湧く」
スミス「見えざる手」の真意：「同感能力（仲間意識）がある場合のみ市場が機能する」＝市場の市場以前的前提</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731520"/>
          </a:xfrm>
          <a:prstGeom prst="rect">
            <a:avLst/>
          </a:prstGeom>
          <a:noFill/>
        </p:spPr>
        <p:txBody>
          <a:bodyPr wrap="square">
            <a:spAutoFit/>
          </a:bodyPr>
          <a:lstStyle/>
          <a:p>
            <a:pPr algn="l"/>
            <a:r>
              <a:rPr sz="3000" b="1">
                <a:solidFill>
                  <a:srgbClr val="FFFFFF"/>
                </a:solidFill>
              </a:rPr>
              <a:t>宮台の権力予期理論</a:t>
            </a:r>
          </a:p>
        </p:txBody>
      </p:sp>
      <p:sp>
        <p:nvSpPr>
          <p:cNvPr id="4" name="TextBox 3"/>
          <p:cNvSpPr txBox="1"/>
          <p:nvPr/>
        </p:nvSpPr>
        <p:spPr>
          <a:xfrm>
            <a:off x="274320" y="749808"/>
            <a:ext cx="11430000" cy="347472"/>
          </a:xfrm>
          <a:prstGeom prst="rect">
            <a:avLst/>
          </a:prstGeom>
          <a:noFill/>
        </p:spPr>
        <p:txBody>
          <a:bodyPr wrap="square">
            <a:spAutoFit/>
          </a:bodyPr>
          <a:lstStyle/>
          <a:p>
            <a:pPr algn="l"/>
            <a:r>
              <a:rPr sz="1400" b="0">
                <a:solidFill>
                  <a:srgbClr val="BBDEFF"/>
                </a:solidFill>
              </a:rPr>
              <a:t>権力とは「体験の操縦」である（ヴェーバー行為論の展開）</a:t>
            </a:r>
          </a:p>
        </p:txBody>
      </p:sp>
      <p:sp>
        <p:nvSpPr>
          <p:cNvPr id="5" name="Rectangle 4"/>
          <p:cNvSpPr/>
          <p:nvPr/>
        </p:nvSpPr>
        <p:spPr>
          <a:xfrm>
            <a:off x="0" y="1188720"/>
            <a:ext cx="12188952" cy="566928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71600"/>
            <a:ext cx="11612880" cy="914400"/>
          </a:xfrm>
          <a:prstGeom prst="rect">
            <a:avLst/>
          </a:prstGeom>
          <a:solidFill>
            <a:srgbClr val="1A237E"/>
          </a:solidFill>
          <a:ln w="19050">
            <a:solidFill>
              <a:srgbClr val="1A237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600" b="1">
                <a:solidFill>
                  <a:srgbClr val="FFFFFF"/>
                </a:solidFill>
              </a:rPr>
              <a:t>権力の本質（ヴェーバー × 宮台）
「相手の体験（了解）を操縦する能力」
武器・富は「持っていると思わせること」が権力源泉</a:t>
            </a:r>
          </a:p>
        </p:txBody>
      </p:sp>
      <p:sp>
        <p:nvSpPr>
          <p:cNvPr id="7" name="Rectangle 6"/>
          <p:cNvSpPr/>
          <p:nvPr/>
        </p:nvSpPr>
        <p:spPr>
          <a:xfrm>
            <a:off x="274320" y="2423160"/>
            <a:ext cx="3749039" cy="640080"/>
          </a:xfrm>
          <a:prstGeom prst="rect">
            <a:avLst/>
          </a:prstGeom>
          <a:solidFill>
            <a:srgbClr val="00695C"/>
          </a:solidFill>
          <a:ln w="19050">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800" b="1">
                <a:solidFill>
                  <a:srgbClr val="FFFFFF"/>
                </a:solidFill>
              </a:rPr>
              <a:t>人称的権力</a:t>
            </a:r>
          </a:p>
        </p:txBody>
      </p:sp>
      <p:sp>
        <p:nvSpPr>
          <p:cNvPr id="8" name="Rectangle 7"/>
          <p:cNvSpPr/>
          <p:nvPr/>
        </p:nvSpPr>
        <p:spPr>
          <a:xfrm>
            <a:off x="274320" y="3063240"/>
            <a:ext cx="3749039" cy="2423160"/>
          </a:xfrm>
          <a:prstGeom prst="rect">
            <a:avLst/>
          </a:prstGeom>
          <a:solidFill>
            <a:srgbClr val="FFFFFF"/>
          </a:solidFill>
          <a:ln w="19050">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400" b="0">
                <a:solidFill>
                  <a:srgbClr val="212121"/>
                </a:solidFill>
              </a:rPr>
              <a:t>A が B に直接行使する
権力
例：上司が部下に命令
「私があなたに言っている」
→ 抵抗の宛先が明確</a:t>
            </a:r>
          </a:p>
        </p:txBody>
      </p:sp>
      <p:sp>
        <p:nvSpPr>
          <p:cNvPr id="9" name="Rectangle 8"/>
          <p:cNvSpPr/>
          <p:nvPr/>
        </p:nvSpPr>
        <p:spPr>
          <a:xfrm>
            <a:off x="4251959" y="2423160"/>
            <a:ext cx="3749039" cy="640080"/>
          </a:xfrm>
          <a:prstGeom prst="rect">
            <a:avLst/>
          </a:prstGeom>
          <a:solidFill>
            <a:srgbClr val="F57C00"/>
          </a:solidFill>
          <a:ln w="19050">
            <a:solidFill>
              <a:srgbClr val="F57C0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800" b="1">
                <a:solidFill>
                  <a:srgbClr val="FFFFFF"/>
                </a:solidFill>
              </a:rPr>
              <a:t>脱人称的権力</a:t>
            </a:r>
          </a:p>
        </p:txBody>
      </p:sp>
      <p:sp>
        <p:nvSpPr>
          <p:cNvPr id="10" name="Rectangle 9"/>
          <p:cNvSpPr/>
          <p:nvPr/>
        </p:nvSpPr>
        <p:spPr>
          <a:xfrm>
            <a:off x="4251959" y="3063240"/>
            <a:ext cx="3749039" cy="2423160"/>
          </a:xfrm>
          <a:prstGeom prst="rect">
            <a:avLst/>
          </a:prstGeom>
          <a:solidFill>
            <a:srgbClr val="FFFFFF"/>
          </a:solidFill>
          <a:ln w="19050">
            <a:solidFill>
              <a:srgbClr val="F57C0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400" b="0">
                <a:solidFill>
                  <a:srgbClr val="212121"/>
                </a:solidFill>
              </a:rPr>
              <a:t>「法・規則・神」に自分も
従っていると了解させる
例：「ルールだから仕方ない」
「神の命令だ」
→ 抵抗の宛先から自分を除外</a:t>
            </a:r>
          </a:p>
        </p:txBody>
      </p:sp>
      <p:sp>
        <p:nvSpPr>
          <p:cNvPr id="11" name="Rectangle 10"/>
          <p:cNvSpPr/>
          <p:nvPr/>
        </p:nvSpPr>
        <p:spPr>
          <a:xfrm>
            <a:off x="8229600" y="2423160"/>
            <a:ext cx="3749039" cy="640080"/>
          </a:xfrm>
          <a:prstGeom prst="rect">
            <a:avLst/>
          </a:prstGeom>
          <a:solidFill>
            <a:srgbClr val="1976D2"/>
          </a:solidFill>
          <a:ln w="1905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800" b="1">
                <a:solidFill>
                  <a:srgbClr val="FFFFFF"/>
                </a:solidFill>
              </a:rPr>
              <a:t>汎人称的権力</a:t>
            </a:r>
          </a:p>
        </p:txBody>
      </p:sp>
      <p:sp>
        <p:nvSpPr>
          <p:cNvPr id="12" name="Rectangle 11"/>
          <p:cNvSpPr/>
          <p:nvPr/>
        </p:nvSpPr>
        <p:spPr>
          <a:xfrm>
            <a:off x="8229600" y="3063240"/>
            <a:ext cx="3749039" cy="2423160"/>
          </a:xfrm>
          <a:prstGeom prst="rect">
            <a:avLst/>
          </a:prstGeom>
          <a:solidFill>
            <a:srgbClr val="FFFFFF"/>
          </a:solidFill>
          <a:ln w="1905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400" b="0">
                <a:solidFill>
                  <a:srgbClr val="212121"/>
                </a:solidFill>
              </a:rPr>
              <a:t>「みんながそうしている」
と了解させる
例：「常識でしょ」
「普通はそうしない」
→ 社会規範・同調圧力</a:t>
            </a:r>
          </a:p>
        </p:txBody>
      </p:sp>
      <p:sp>
        <p:nvSpPr>
          <p:cNvPr id="13" name="Rectangle 12"/>
          <p:cNvSpPr/>
          <p:nvPr/>
        </p:nvSpPr>
        <p:spPr>
          <a:xfrm>
            <a:off x="274320" y="5669280"/>
            <a:ext cx="11612880" cy="1005840"/>
          </a:xfrm>
          <a:prstGeom prst="rect">
            <a:avLst/>
          </a:prstGeom>
          <a:solidFill>
            <a:srgbClr val="E8EAF6"/>
          </a:solidFill>
          <a:ln w="25400">
            <a:solidFill>
              <a:srgbClr val="1A237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400" b="1">
                <a:solidFill>
                  <a:srgbClr val="1A237E"/>
                </a:solidFill>
              </a:rPr>
              <a:t>「選択肢から選ぶのが自由」と思った時点で権力に操縦されている。
真の自由＝ギリシア的「内から湧く力」。選択肢の多さ＝セム族的自由は力の枯渇による代替（ニヒリズム）</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731520"/>
          </a:xfrm>
          <a:prstGeom prst="rect">
            <a:avLst/>
          </a:prstGeom>
          <a:noFill/>
        </p:spPr>
        <p:txBody>
          <a:bodyPr wrap="square">
            <a:spAutoFit/>
          </a:bodyPr>
          <a:lstStyle/>
          <a:p>
            <a:pPr algn="l"/>
            <a:r>
              <a:rPr sz="3000" b="1">
                <a:solidFill>
                  <a:srgbClr val="FFFFFF"/>
                </a:solidFill>
              </a:rPr>
              <a:t>まとめ：宮台思想のエッセンス 5か条</a:t>
            </a:r>
          </a:p>
        </p:txBody>
      </p:sp>
      <p:sp>
        <p:nvSpPr>
          <p:cNvPr id="4" name="Rectangle 3"/>
          <p:cNvSpPr/>
          <p:nvPr/>
        </p:nvSpPr>
        <p:spPr>
          <a:xfrm>
            <a:off x="0" y="1188720"/>
            <a:ext cx="12188952" cy="566928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 y="1371600"/>
            <a:ext cx="502920" cy="804672"/>
          </a:xfrm>
          <a:prstGeom prst="rect">
            <a:avLst/>
          </a:prstGeom>
          <a:solidFill>
            <a:srgbClr val="1976D2"/>
          </a:solidFill>
          <a:ln w="1905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800" b="1">
                <a:solidFill>
                  <a:srgbClr val="FFFFFF"/>
                </a:solidFill>
              </a:rPr>
              <a:t>①</a:t>
            </a:r>
          </a:p>
        </p:txBody>
      </p:sp>
      <p:sp>
        <p:nvSpPr>
          <p:cNvPr id="6" name="Rectangle 5"/>
          <p:cNvSpPr/>
          <p:nvPr/>
        </p:nvSpPr>
        <p:spPr>
          <a:xfrm>
            <a:off x="713232" y="1371600"/>
            <a:ext cx="2651760" cy="804672"/>
          </a:xfrm>
          <a:prstGeom prst="rect">
            <a:avLst/>
          </a:prstGeom>
          <a:solidFill>
            <a:srgbClr val="1976D2"/>
          </a:solidFill>
          <a:ln w="1905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500" b="1">
                <a:solidFill>
                  <a:srgbClr val="FFFFFF"/>
                </a:solidFill>
              </a:rPr>
              <a:t>前提を遡れ</a:t>
            </a:r>
          </a:p>
        </p:txBody>
      </p:sp>
      <p:sp>
        <p:nvSpPr>
          <p:cNvPr id="7" name="Rectangle 6"/>
          <p:cNvSpPr/>
          <p:nvPr/>
        </p:nvSpPr>
        <p:spPr>
          <a:xfrm>
            <a:off x="3401568" y="1371600"/>
            <a:ext cx="8549640" cy="804672"/>
          </a:xfrm>
          <a:prstGeom prst="rect">
            <a:avLst/>
          </a:prstGeom>
          <a:solidFill>
            <a:srgbClr val="FFFFFF"/>
          </a:solidFill>
          <a:ln w="1905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300" b="0">
                <a:solidFill>
                  <a:srgbClr val="212121"/>
                </a:solidFill>
              </a:rPr>
              <a:t>「民主政の民主政以前的前提」「市場の市場以前的前提」
社会の「ありそうもなさ」を支える前提を問い続ける</a:t>
            </a:r>
          </a:p>
        </p:txBody>
      </p:sp>
      <p:sp>
        <p:nvSpPr>
          <p:cNvPr id="8" name="Rectangle 7"/>
          <p:cNvSpPr/>
          <p:nvPr/>
        </p:nvSpPr>
        <p:spPr>
          <a:xfrm>
            <a:off x="182880" y="2286000"/>
            <a:ext cx="502920" cy="804672"/>
          </a:xfrm>
          <a:prstGeom prst="rect">
            <a:avLst/>
          </a:prstGeom>
          <a:solidFill>
            <a:srgbClr val="00695C"/>
          </a:solidFill>
          <a:ln w="19050">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800" b="1">
                <a:solidFill>
                  <a:srgbClr val="FFFFFF"/>
                </a:solidFill>
              </a:rPr>
              <a:t>②</a:t>
            </a:r>
          </a:p>
        </p:txBody>
      </p:sp>
      <p:sp>
        <p:nvSpPr>
          <p:cNvPr id="9" name="Rectangle 8"/>
          <p:cNvSpPr/>
          <p:nvPr/>
        </p:nvSpPr>
        <p:spPr>
          <a:xfrm>
            <a:off x="713232" y="2286000"/>
            <a:ext cx="2651760" cy="804672"/>
          </a:xfrm>
          <a:prstGeom prst="rect">
            <a:avLst/>
          </a:prstGeom>
          <a:solidFill>
            <a:srgbClr val="00695C"/>
          </a:solidFill>
          <a:ln w="19050">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500" b="1">
                <a:solidFill>
                  <a:srgbClr val="FFFFFF"/>
                </a:solidFill>
              </a:rPr>
              <a:t>存在論で考えろ</a:t>
            </a:r>
          </a:p>
        </p:txBody>
      </p:sp>
      <p:sp>
        <p:nvSpPr>
          <p:cNvPr id="10" name="Rectangle 9"/>
          <p:cNvSpPr/>
          <p:nvPr/>
        </p:nvSpPr>
        <p:spPr>
          <a:xfrm>
            <a:off x="3401568" y="2286000"/>
            <a:ext cx="8549640" cy="804672"/>
          </a:xfrm>
          <a:prstGeom prst="rect">
            <a:avLst/>
          </a:prstGeom>
          <a:solidFill>
            <a:srgbClr val="FFFFFF"/>
          </a:solidFill>
          <a:ln w="19050">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300" b="0">
                <a:solidFill>
                  <a:srgbClr val="212121"/>
                </a:solidFill>
              </a:rPr>
              <a:t>「どうすれば（How）」でなく「なぜ（Why）」を問う
人類史の普遍性から近代の特殊性を照らし出す</a:t>
            </a:r>
          </a:p>
        </p:txBody>
      </p:sp>
      <p:sp>
        <p:nvSpPr>
          <p:cNvPr id="11" name="Rectangle 10"/>
          <p:cNvSpPr/>
          <p:nvPr/>
        </p:nvSpPr>
        <p:spPr>
          <a:xfrm>
            <a:off x="182880" y="3200400"/>
            <a:ext cx="502920" cy="804672"/>
          </a:xfrm>
          <a:prstGeom prst="rect">
            <a:avLst/>
          </a:prstGeom>
          <a:solidFill>
            <a:srgbClr val="2E7D32"/>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800" b="1">
                <a:solidFill>
                  <a:srgbClr val="FFFFFF"/>
                </a:solidFill>
              </a:rPr>
              <a:t>③</a:t>
            </a:r>
          </a:p>
        </p:txBody>
      </p:sp>
      <p:sp>
        <p:nvSpPr>
          <p:cNvPr id="12" name="Rectangle 11"/>
          <p:cNvSpPr/>
          <p:nvPr/>
        </p:nvSpPr>
        <p:spPr>
          <a:xfrm>
            <a:off x="713232" y="3200400"/>
            <a:ext cx="2651760" cy="804672"/>
          </a:xfrm>
          <a:prstGeom prst="rect">
            <a:avLst/>
          </a:prstGeom>
          <a:solidFill>
            <a:srgbClr val="2E7D32"/>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500" b="1">
                <a:solidFill>
                  <a:srgbClr val="FFFFFF"/>
                </a:solidFill>
              </a:rPr>
              <a:t>共同体を取り戻せ</a:t>
            </a:r>
          </a:p>
        </p:txBody>
      </p:sp>
      <p:sp>
        <p:nvSpPr>
          <p:cNvPr id="13" name="Rectangle 12"/>
          <p:cNvSpPr/>
          <p:nvPr/>
        </p:nvSpPr>
        <p:spPr>
          <a:xfrm>
            <a:off x="3401568" y="3200400"/>
            <a:ext cx="8549640" cy="804672"/>
          </a:xfrm>
          <a:prstGeom prst="rect">
            <a:avLst/>
          </a:prstGeom>
          <a:solidFill>
            <a:srgbClr val="FFFFFF"/>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300" b="0">
                <a:solidFill>
                  <a:srgbClr val="212121"/>
                </a:solidFill>
              </a:rPr>
              <a:t>汎システム化・新住民化による感情劣化を認識し
贈与・共同身体性・「内から湧く力」を回復する</a:t>
            </a:r>
          </a:p>
        </p:txBody>
      </p:sp>
      <p:sp>
        <p:nvSpPr>
          <p:cNvPr id="14" name="Rectangle 13"/>
          <p:cNvSpPr/>
          <p:nvPr/>
        </p:nvSpPr>
        <p:spPr>
          <a:xfrm>
            <a:off x="182880" y="4114800"/>
            <a:ext cx="502920" cy="804672"/>
          </a:xfrm>
          <a:prstGeom prst="rect">
            <a:avLst/>
          </a:prstGeom>
          <a:solidFill>
            <a:srgbClr val="F57C00"/>
          </a:solidFill>
          <a:ln w="19050">
            <a:solidFill>
              <a:srgbClr val="F57C0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800" b="1">
                <a:solidFill>
                  <a:srgbClr val="FFFFFF"/>
                </a:solidFill>
              </a:rPr>
              <a:t>④</a:t>
            </a:r>
          </a:p>
        </p:txBody>
      </p:sp>
      <p:sp>
        <p:nvSpPr>
          <p:cNvPr id="15" name="Rectangle 14"/>
          <p:cNvSpPr/>
          <p:nvPr/>
        </p:nvSpPr>
        <p:spPr>
          <a:xfrm>
            <a:off x="713232" y="4114800"/>
            <a:ext cx="2651760" cy="804672"/>
          </a:xfrm>
          <a:prstGeom prst="rect">
            <a:avLst/>
          </a:prstGeom>
          <a:solidFill>
            <a:srgbClr val="F57C00"/>
          </a:solidFill>
          <a:ln w="19050">
            <a:solidFill>
              <a:srgbClr val="F57C0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500" b="1">
                <a:solidFill>
                  <a:srgbClr val="FFFFFF"/>
                </a:solidFill>
              </a:rPr>
              <a:t>行為より体験を重視せよ</a:t>
            </a:r>
          </a:p>
        </p:txBody>
      </p:sp>
      <p:sp>
        <p:nvSpPr>
          <p:cNvPr id="16" name="Rectangle 15"/>
          <p:cNvSpPr/>
          <p:nvPr/>
        </p:nvSpPr>
        <p:spPr>
          <a:xfrm>
            <a:off x="3401568" y="4114800"/>
            <a:ext cx="8549640" cy="804672"/>
          </a:xfrm>
          <a:prstGeom prst="rect">
            <a:avLst/>
          </a:prstGeom>
          <a:solidFill>
            <a:srgbClr val="FFFFFF"/>
          </a:solidFill>
          <a:ln w="19050">
            <a:solidFill>
              <a:srgbClr val="F57C0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300" b="0">
                <a:solidFill>
                  <a:srgbClr val="212121"/>
                </a:solidFill>
              </a:rPr>
              <a:t>「行為を制御しても体験から力を奪うだけ」（宮台）
知識より動機付け。力が湧く体験こそが変革の契機</a:t>
            </a:r>
          </a:p>
        </p:txBody>
      </p:sp>
      <p:sp>
        <p:nvSpPr>
          <p:cNvPr id="17" name="Rectangle 16"/>
          <p:cNvSpPr/>
          <p:nvPr/>
        </p:nvSpPr>
        <p:spPr>
          <a:xfrm>
            <a:off x="182880" y="5029200"/>
            <a:ext cx="502920" cy="804672"/>
          </a:xfrm>
          <a:prstGeom prst="rect">
            <a:avLst/>
          </a:prstGeom>
          <a:solidFill>
            <a:srgbClr val="C62828"/>
          </a:solidFill>
          <a:ln w="1905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800" b="1">
                <a:solidFill>
                  <a:srgbClr val="FFFFFF"/>
                </a:solidFill>
              </a:rPr>
              <a:t>⑤</a:t>
            </a:r>
          </a:p>
        </p:txBody>
      </p:sp>
      <p:sp>
        <p:nvSpPr>
          <p:cNvPr id="18" name="Rectangle 17"/>
          <p:cNvSpPr/>
          <p:nvPr/>
        </p:nvSpPr>
        <p:spPr>
          <a:xfrm>
            <a:off x="713232" y="5029200"/>
            <a:ext cx="2651760" cy="804672"/>
          </a:xfrm>
          <a:prstGeom prst="rect">
            <a:avLst/>
          </a:prstGeom>
          <a:solidFill>
            <a:srgbClr val="C62828"/>
          </a:solidFill>
          <a:ln w="1905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500" b="1">
                <a:solidFill>
                  <a:srgbClr val="FFFFFF"/>
                </a:solidFill>
              </a:rPr>
              <a:t>強制された近代を疑え</a:t>
            </a:r>
          </a:p>
        </p:txBody>
      </p:sp>
      <p:sp>
        <p:nvSpPr>
          <p:cNvPr id="19" name="Rectangle 18"/>
          <p:cNvSpPr/>
          <p:nvPr/>
        </p:nvSpPr>
        <p:spPr>
          <a:xfrm>
            <a:off x="3401568" y="5029200"/>
            <a:ext cx="8549640" cy="804672"/>
          </a:xfrm>
          <a:prstGeom prst="rect">
            <a:avLst/>
          </a:prstGeom>
          <a:solidFill>
            <a:srgbClr val="FFFFFF"/>
          </a:solidFill>
          <a:ln w="1905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l"/>
            <a:r>
              <a:rPr sz="1300" b="0">
                <a:solidFill>
                  <a:srgbClr val="212121"/>
                </a:solidFill>
              </a:rPr>
              <a:t>民主制・資本主義は前提にするしかない。しかしその限界条件を見極め
自明性を淵に立たせる批判を貫徹し続ける（強制で近代化した歴史を忘れるな）</a:t>
            </a:r>
          </a:p>
        </p:txBody>
      </p:sp>
      <p:sp>
        <p:nvSpPr>
          <p:cNvPr id="20" name="Rectangle 19"/>
          <p:cNvSpPr/>
          <p:nvPr/>
        </p:nvSpPr>
        <p:spPr>
          <a:xfrm>
            <a:off x="182880" y="6035040"/>
            <a:ext cx="11795760" cy="713232"/>
          </a:xfrm>
          <a:prstGeom prst="rect">
            <a:avLst/>
          </a:prstGeom>
          <a:solidFill>
            <a:srgbClr val="1A237E"/>
          </a:solidFill>
          <a:ln w="19050">
            <a:solidFill>
              <a:srgbClr val="1A237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a:lstStyle/>
          <a:p>
            <a:pPr algn="ctr"/>
            <a:r>
              <a:rPr sz="1300" b="1">
                <a:solidFill>
                  <a:srgbClr val="FFFFFF"/>
                </a:solidFill>
              </a:rPr>
              <a:t>「充ち満ちた前提を自明視した閉ざされ」から「前提を遡ることで得られるありそうもなさの感覚がもたらす目的プログラム（力の湧き出し）」への開かれへ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